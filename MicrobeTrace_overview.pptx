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8" r:id="rId4"/>
  </p:sldMasterIdLst>
  <p:notesMasterIdLst>
    <p:notesMasterId r:id="rId19"/>
  </p:notesMasterIdLst>
  <p:handoutMasterIdLst>
    <p:handoutMasterId r:id="rId20"/>
  </p:handoutMasterIdLst>
  <p:sldIdLst>
    <p:sldId id="324" r:id="rId5"/>
    <p:sldId id="1578" r:id="rId6"/>
    <p:sldId id="325" r:id="rId7"/>
    <p:sldId id="326" r:id="rId8"/>
    <p:sldId id="1580" r:id="rId9"/>
    <p:sldId id="1569" r:id="rId10"/>
    <p:sldId id="1570" r:id="rId11"/>
    <p:sldId id="272" r:id="rId12"/>
    <p:sldId id="1582" r:id="rId13"/>
    <p:sldId id="1583" r:id="rId14"/>
    <p:sldId id="1584" r:id="rId15"/>
    <p:sldId id="1575" r:id="rId16"/>
    <p:sldId id="286" r:id="rId17"/>
    <p:sldId id="261" r:id="rId1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E37735"/>
    <a:srgbClr val="BCA493"/>
    <a:srgbClr val="CABFB3"/>
    <a:srgbClr val="B3CDD4"/>
    <a:srgbClr val="7AA8B4"/>
    <a:srgbClr val="839AA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2532B-89FF-424D-BC2B-B3754977D0FE}" v="6" dt="2026-03-17T20:59:57.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73487" autoAdjust="0"/>
  </p:normalViewPr>
  <p:slideViewPr>
    <p:cSldViewPr>
      <p:cViewPr varScale="1">
        <p:scale>
          <a:sx n="60" d="100"/>
          <a:sy n="60" d="100"/>
        </p:scale>
        <p:origin x="1531" y="34"/>
      </p:cViewPr>
      <p:guideLst>
        <p:guide orient="horz" pos="2160"/>
        <p:guide pos="3888"/>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ra Trujillo [KDHE]" userId="fba687dd-b4d0-421a-8af4-a3399434a759" providerId="ADAL" clId="{08F3E85D-BC3F-47A1-A7CC-56CFD3C9BAFB}"/>
    <pc:docChg chg="undo custSel modSld">
      <pc:chgData name="Mayra Trujillo [KDHE]" userId="fba687dd-b4d0-421a-8af4-a3399434a759" providerId="ADAL" clId="{08F3E85D-BC3F-47A1-A7CC-56CFD3C9BAFB}" dt="2026-03-17T20:59:57.108" v="40"/>
      <pc:docMkLst>
        <pc:docMk/>
      </pc:docMkLst>
      <pc:sldChg chg="modSp mod modNotesTx">
        <pc:chgData name="Mayra Trujillo [KDHE]" userId="fba687dd-b4d0-421a-8af4-a3399434a759" providerId="ADAL" clId="{08F3E85D-BC3F-47A1-A7CC-56CFD3C9BAFB}" dt="2026-03-17T20:58:41.189" v="29" actId="20577"/>
        <pc:sldMkLst>
          <pc:docMk/>
          <pc:sldMk cId="0" sldId="324"/>
        </pc:sldMkLst>
        <pc:spChg chg="mod">
          <ac:chgData name="Mayra Trujillo [KDHE]" userId="fba687dd-b4d0-421a-8af4-a3399434a759" providerId="ADAL" clId="{08F3E85D-BC3F-47A1-A7CC-56CFD3C9BAFB}" dt="2026-03-17T20:58:36.515" v="28" actId="20577"/>
          <ac:spMkLst>
            <pc:docMk/>
            <pc:sldMk cId="0" sldId="324"/>
            <ac:spMk id="9218" creationId="{68B5B0A7-12A7-F438-0D2E-75C3120E8DB8}"/>
          </ac:spMkLst>
        </pc:spChg>
      </pc:sldChg>
      <pc:sldChg chg="modNotesTx">
        <pc:chgData name="Mayra Trujillo [KDHE]" userId="fba687dd-b4d0-421a-8af4-a3399434a759" providerId="ADAL" clId="{08F3E85D-BC3F-47A1-A7CC-56CFD3C9BAFB}" dt="2026-03-17T20:58:28.591" v="22" actId="20577"/>
        <pc:sldMkLst>
          <pc:docMk/>
          <pc:sldMk cId="3591782582" sldId="325"/>
        </pc:sldMkLst>
      </pc:sldChg>
      <pc:sldChg chg="modNotesTx">
        <pc:chgData name="Mayra Trujillo [KDHE]" userId="fba687dd-b4d0-421a-8af4-a3399434a759" providerId="ADAL" clId="{08F3E85D-BC3F-47A1-A7CC-56CFD3C9BAFB}" dt="2026-03-17T20:58:48.688" v="30" actId="20577"/>
        <pc:sldMkLst>
          <pc:docMk/>
          <pc:sldMk cId="917610354" sldId="1578"/>
        </pc:sldMkLst>
      </pc:sldChg>
      <pc:sldChg chg="modNotesTx">
        <pc:chgData name="Mayra Trujillo [KDHE]" userId="fba687dd-b4d0-421a-8af4-a3399434a759" providerId="ADAL" clId="{08F3E85D-BC3F-47A1-A7CC-56CFD3C9BAFB}" dt="2026-03-17T20:58:27.259" v="20" actId="20577"/>
        <pc:sldMkLst>
          <pc:docMk/>
          <pc:sldMk cId="2097737328" sldId="1580"/>
        </pc:sldMkLst>
      </pc:sldChg>
      <pc:sldChg chg="modSp mod">
        <pc:chgData name="Mayra Trujillo [KDHE]" userId="fba687dd-b4d0-421a-8af4-a3399434a759" providerId="ADAL" clId="{08F3E85D-BC3F-47A1-A7CC-56CFD3C9BAFB}" dt="2026-03-17T20:59:57.108" v="40"/>
        <pc:sldMkLst>
          <pc:docMk/>
          <pc:sldMk cId="1297916481" sldId="1582"/>
        </pc:sldMkLst>
        <pc:spChg chg="mod">
          <ac:chgData name="Mayra Trujillo [KDHE]" userId="fba687dd-b4d0-421a-8af4-a3399434a759" providerId="ADAL" clId="{08F3E85D-BC3F-47A1-A7CC-56CFD3C9BAFB}" dt="2026-03-17T20:59:57.108" v="40"/>
          <ac:spMkLst>
            <pc:docMk/>
            <pc:sldMk cId="1297916481" sldId="1582"/>
            <ac:spMk id="4" creationId="{C88D0D93-0D66-C462-75F7-13C6E74809D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F45137-5931-3F12-74B3-E22629FBF22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4" name="Footer Placeholder 3">
            <a:extLst>
              <a:ext uri="{FF2B5EF4-FFF2-40B4-BE49-F238E27FC236}">
                <a16:creationId xmlns:a16="http://schemas.microsoft.com/office/drawing/2014/main" id="{4433B692-8072-F802-F0CE-A81E8AF5336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3" name="Slide Number Placeholder 2">
            <a:extLst>
              <a:ext uri="{FF2B5EF4-FFF2-40B4-BE49-F238E27FC236}">
                <a16:creationId xmlns:a16="http://schemas.microsoft.com/office/drawing/2014/main" id="{83501C9E-EDCD-F46B-E36C-CBB334B7CB7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F465F0E-7ABE-4C2A-845E-28CA4D5383B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74F669-0D2C-2C7D-E23A-CAC8774309D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DF4EA1B2-DE64-AFF7-4150-E61F0AC78EE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DDAE5F32-22D3-4DEB-9F4A-8B2F1EB2F372}" type="datetimeFigureOut">
              <a:rPr lang="en-US"/>
              <a:pPr>
                <a:defRPr/>
              </a:pPr>
              <a:t>3/17/2026</a:t>
            </a:fld>
            <a:endParaRPr lang="en-US"/>
          </a:p>
        </p:txBody>
      </p:sp>
      <p:sp>
        <p:nvSpPr>
          <p:cNvPr id="4" name="Slide Image Placeholder 3">
            <a:extLst>
              <a:ext uri="{FF2B5EF4-FFF2-40B4-BE49-F238E27FC236}">
                <a16:creationId xmlns:a16="http://schemas.microsoft.com/office/drawing/2014/main" id="{DBDF6400-79CA-97A1-383F-758C07B47594}"/>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669E18F-0990-7CE1-A246-075953E0F2D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15BEB59-D031-3DAE-C7A7-7160344EC62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A5C3E2CB-18BF-97C2-0050-385326B15B4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BBD54CAE-FF8A-4720-B24E-1281AD1F697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811E27E0-651C-9277-0CD1-53DC4A3C12A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72E32F1D-5842-3E6C-0B1B-259489488419}"/>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10244" name="Slide Number Placeholder 3">
            <a:extLst>
              <a:ext uri="{FF2B5EF4-FFF2-40B4-BE49-F238E27FC236}">
                <a16:creationId xmlns:a16="http://schemas.microsoft.com/office/drawing/2014/main" id="{0B9B0802-A483-9E7D-0753-60C240C6D82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8B1EC9-9717-40E1-90CE-0BC74A57D786}"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BD54CAE-FF8A-4720-B24E-1281AD1F6976}" type="slidenum">
              <a:rPr lang="en-US" altLang="en-US" smtClean="0"/>
              <a:pPr/>
              <a:t>2</a:t>
            </a:fld>
            <a:endParaRPr lang="en-US" altLang="en-US"/>
          </a:p>
        </p:txBody>
      </p:sp>
    </p:spTree>
    <p:extLst>
      <p:ext uri="{BB962C8B-B14F-4D97-AF65-F5344CB8AC3E}">
        <p14:creationId xmlns:p14="http://schemas.microsoft.com/office/powerpoint/2010/main" val="213747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 me give a bit more detail about what MicrobeTrace is. As I mentioned previously, it is a powerful, secure data visualization tool that can be used to map transmission networks. However, transmission networks are not the only things MicrobeTrace can visualize. It can also display histograms, SNP heatmap matrices, nucleotide sequence alignments, phylogenetic trees, and maps showing the geographic locations of uploaded cases.</a:t>
            </a:r>
          </a:p>
          <a:p>
            <a:endParaRPr lang="en-US"/>
          </a:p>
          <a:p>
            <a:r>
              <a:rPr lang="en-US"/>
              <a:t>Because MicrobeTrace supports these different visualizations, it is able to handle a variety of data inputs.</a:t>
            </a:r>
          </a:p>
          <a:p>
            <a:endParaRPr lang="en-US"/>
          </a:p>
          <a:p>
            <a:r>
              <a:rPr lang="en-US"/>
              <a:t>Also, MT is pathogen-agnostic meaning it can used for any pathogen capable of causing an outbreak. While it was originally developed for HIV surveillance, </a:t>
            </a:r>
            <a:r>
              <a:rPr lang="en-US" b="1"/>
              <a:t>it has since been used </a:t>
            </a:r>
            <a:r>
              <a:rPr lang="en-US"/>
              <a:t>across a wide range of diseases. For example, I use it frequently when collaborating with the healthcare associated infections team for CPO outbreak investigations.</a:t>
            </a:r>
          </a:p>
          <a:p>
            <a:endParaRPr lang="en-US"/>
          </a:p>
          <a:p>
            <a:r>
              <a:rPr lang="en-US"/>
              <a:t>The best part is, that MicrobeTrace runs entirely within your web browser and does not transmit any information over the web, which is critical for maintaining data security and HIPAA compliance.</a:t>
            </a:r>
          </a:p>
          <a:p>
            <a:endParaRPr lang="en-US"/>
          </a:p>
          <a:p>
            <a:endParaRPr lang="en-US"/>
          </a:p>
          <a:p>
            <a:endParaRPr lang="en-US" dirty="0"/>
          </a:p>
        </p:txBody>
      </p:sp>
      <p:sp>
        <p:nvSpPr>
          <p:cNvPr id="4" name="Slide Number Placeholder 3"/>
          <p:cNvSpPr>
            <a:spLocks noGrp="1"/>
          </p:cNvSpPr>
          <p:nvPr>
            <p:ph type="sldNum" sz="quarter" idx="5"/>
          </p:nvPr>
        </p:nvSpPr>
        <p:spPr/>
        <p:txBody>
          <a:bodyPr/>
          <a:lstStyle/>
          <a:p>
            <a:fld id="{BBD54CAE-FF8A-4720-B24E-1281AD1F6976}" type="slidenum">
              <a:rPr lang="en-US" altLang="en-US" smtClean="0"/>
              <a:pPr/>
              <a:t>3</a:t>
            </a:fld>
            <a:endParaRPr lang="en-US" altLang="en-US"/>
          </a:p>
        </p:txBody>
      </p:sp>
    </p:spTree>
    <p:extLst>
      <p:ext uri="{BB962C8B-B14F-4D97-AF65-F5344CB8AC3E}">
        <p14:creationId xmlns:p14="http://schemas.microsoft.com/office/powerpoint/2010/main" val="884082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Transmission networks provide fine-grained insight into transmission patterns by visualizing connections among individuals within a group. These networks can be epidemiological or based on genetic distance. </a:t>
            </a:r>
            <a:r>
              <a:rPr lang="en-US" dirty="0" err="1"/>
              <a:t>MicrobeTrace</a:t>
            </a:r>
            <a:r>
              <a:rPr lang="en-US" dirty="0"/>
              <a:t> allows both network types to be visualized simultaneously, enabling integrated interpretation of genomic and epidemiologic data.</a:t>
            </a:r>
          </a:p>
        </p:txBody>
      </p:sp>
      <p:sp>
        <p:nvSpPr>
          <p:cNvPr id="4" name="Slide Number Placeholder 3"/>
          <p:cNvSpPr>
            <a:spLocks noGrp="1"/>
          </p:cNvSpPr>
          <p:nvPr>
            <p:ph type="sldNum" sz="quarter" idx="5"/>
          </p:nvPr>
        </p:nvSpPr>
        <p:spPr/>
        <p:txBody>
          <a:bodyPr/>
          <a:lstStyle/>
          <a:p>
            <a:fld id="{BBD54CAE-FF8A-4720-B24E-1281AD1F6976}" type="slidenum">
              <a:rPr lang="en-US" altLang="en-US" smtClean="0"/>
              <a:pPr/>
              <a:t>4</a:t>
            </a:fld>
            <a:endParaRPr lang="en-US" altLang="en-US"/>
          </a:p>
        </p:txBody>
      </p:sp>
    </p:spTree>
    <p:extLst>
      <p:ext uri="{BB962C8B-B14F-4D97-AF65-F5344CB8AC3E}">
        <p14:creationId xmlns:p14="http://schemas.microsoft.com/office/powerpoint/2010/main" val="2669717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why do we map transmission networks?</a:t>
            </a:r>
          </a:p>
          <a:p>
            <a:r>
              <a:rPr lang="en-US"/>
              <a:t>First, they help us </a:t>
            </a:r>
            <a:r>
              <a:rPr lang="en-US" b="1"/>
              <a:t>identify where transmission is happening</a:t>
            </a:r>
            <a:r>
              <a:rPr lang="en-US"/>
              <a:t>, allowing us to pinpoint hotspots and understand disease incidence.</a:t>
            </a:r>
          </a:p>
          <a:p>
            <a:r>
              <a:rPr lang="en-US"/>
              <a:t>They also let us </a:t>
            </a:r>
            <a:r>
              <a:rPr lang="en-US" b="1"/>
              <a:t>analyze outbreaks across both space and time</a:t>
            </a:r>
            <a:r>
              <a:rPr lang="en-US"/>
              <a:t>, which is critical for understanding how transmission evolves, not just where it starts.</a:t>
            </a:r>
          </a:p>
          <a:p>
            <a:r>
              <a:rPr lang="en-US"/>
              <a:t>By integrating </a:t>
            </a:r>
            <a:r>
              <a:rPr lang="en-US" b="1"/>
              <a:t>epidemiologic and genomic data</a:t>
            </a:r>
            <a:r>
              <a:rPr lang="en-US"/>
              <a:t>, transmission networks give us a much more </a:t>
            </a:r>
            <a:r>
              <a:rPr lang="en-US" b="1"/>
              <a:t>fine-grained view of who may be connected to whom</a:t>
            </a:r>
            <a:r>
              <a:rPr lang="en-US"/>
              <a:t>, beyond </a:t>
            </a:r>
            <a:r>
              <a:rPr lang="en-US" b="1"/>
              <a:t>what</a:t>
            </a:r>
            <a:r>
              <a:rPr lang="en-US"/>
              <a:t> either data source can show alone.</a:t>
            </a:r>
          </a:p>
          <a:p>
            <a:r>
              <a:rPr lang="en-US"/>
              <a:t>All of this directly supports </a:t>
            </a:r>
            <a:r>
              <a:rPr lang="en-US" b="1"/>
              <a:t>outbreak-specific intervention decisions</a:t>
            </a:r>
            <a:r>
              <a:rPr lang="en-US"/>
              <a:t>, like where to focus contact tracing or infection control efforts.</a:t>
            </a:r>
          </a:p>
          <a:p>
            <a:r>
              <a:rPr lang="en-US"/>
              <a:t>And finally, these insights don’t just help with the current outbreak, </a:t>
            </a:r>
            <a:r>
              <a:rPr lang="en-US" b="1"/>
              <a:t>they</a:t>
            </a:r>
            <a:r>
              <a:rPr lang="en-US"/>
              <a:t> also </a:t>
            </a:r>
            <a:r>
              <a:rPr lang="en-US" b="1"/>
              <a:t>inform future prevention and preparedness strategies</a:t>
            </a:r>
            <a:r>
              <a:rPr lang="en-US"/>
              <a:t>.</a:t>
            </a:r>
            <a:endParaRPr lang="en-US" dirty="0"/>
          </a:p>
        </p:txBody>
      </p:sp>
      <p:sp>
        <p:nvSpPr>
          <p:cNvPr id="4" name="Slide Number Placeholder 3"/>
          <p:cNvSpPr>
            <a:spLocks noGrp="1"/>
          </p:cNvSpPr>
          <p:nvPr>
            <p:ph type="sldNum" sz="quarter" idx="5"/>
          </p:nvPr>
        </p:nvSpPr>
        <p:spPr/>
        <p:txBody>
          <a:bodyPr/>
          <a:lstStyle/>
          <a:p>
            <a:fld id="{BBD54CAE-FF8A-4720-B24E-1281AD1F6976}" type="slidenum">
              <a:rPr lang="en-US" altLang="en-US" smtClean="0"/>
              <a:pPr/>
              <a:t>5</a:t>
            </a:fld>
            <a:endParaRPr lang="en-US" altLang="en-US"/>
          </a:p>
        </p:txBody>
      </p:sp>
    </p:spTree>
    <p:extLst>
      <p:ext uri="{BB962C8B-B14F-4D97-AF65-F5344CB8AC3E}">
        <p14:creationId xmlns:p14="http://schemas.microsoft.com/office/powerpoint/2010/main" val="3334067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how MT TN come to be.</a:t>
            </a:r>
          </a:p>
          <a:p>
            <a:endParaRPr lang="en-US" dirty="0"/>
          </a:p>
          <a:p>
            <a:r>
              <a:rPr lang="en-US" dirty="0"/>
              <a:t>The </a:t>
            </a:r>
            <a:r>
              <a:rPr lang="en-US" b="1" dirty="0"/>
              <a:t>first image </a:t>
            </a:r>
            <a:r>
              <a:rPr lang="en-US" dirty="0"/>
              <a:t>shows nodes of an outbreak. Where </a:t>
            </a:r>
            <a:r>
              <a:rPr lang="en-US" b="1" dirty="0"/>
              <a:t>circular nodes </a:t>
            </a:r>
            <a:r>
              <a:rPr lang="en-US" dirty="0"/>
              <a:t>represent people, and </a:t>
            </a:r>
            <a:r>
              <a:rPr lang="en-US" b="1" dirty="0"/>
              <a:t>squares</a:t>
            </a:r>
            <a:r>
              <a:rPr lang="en-US" dirty="0"/>
              <a:t> represent facilities or locations.</a:t>
            </a:r>
          </a:p>
          <a:p>
            <a:endParaRPr lang="en-US" dirty="0"/>
          </a:p>
          <a:p>
            <a:r>
              <a:rPr lang="en-US" dirty="0"/>
              <a:t>The second image shows </a:t>
            </a:r>
            <a:r>
              <a:rPr lang="en-US" b="1" dirty="0"/>
              <a:t>Person-to-Place Links. </a:t>
            </a:r>
            <a:r>
              <a:rPr lang="en-US" b="0" dirty="0"/>
              <a:t>I’ve done that by adding </a:t>
            </a:r>
            <a:r>
              <a:rPr lang="en-US" dirty="0"/>
              <a:t>epidemiological data, such as an edge list, that we’ve gathered through investigation, and now we can see the links appear.</a:t>
            </a:r>
          </a:p>
          <a:p>
            <a:endParaRPr lang="en-US" dirty="0"/>
          </a:p>
          <a:p>
            <a:r>
              <a:rPr lang="en-US" dirty="0"/>
              <a:t>In the last image we see </a:t>
            </a:r>
            <a:r>
              <a:rPr lang="en-US" b="1" dirty="0"/>
              <a:t>Genetic Links. By adding </a:t>
            </a:r>
            <a:r>
              <a:rPr lang="en-US" dirty="0"/>
              <a:t>genomic data and we can start to visualize which groups may have similar genetic sequences</a:t>
            </a:r>
          </a:p>
          <a:p>
            <a:endParaRPr lang="en-US" dirty="0"/>
          </a:p>
        </p:txBody>
      </p:sp>
      <p:sp>
        <p:nvSpPr>
          <p:cNvPr id="4" name="Slide Number Placeholder 3"/>
          <p:cNvSpPr>
            <a:spLocks noGrp="1"/>
          </p:cNvSpPr>
          <p:nvPr>
            <p:ph type="sldNum" sz="quarter" idx="5"/>
          </p:nvPr>
        </p:nvSpPr>
        <p:spPr/>
        <p:txBody>
          <a:bodyPr/>
          <a:lstStyle/>
          <a:p>
            <a:fld id="{3350B706-9D79-4F4B-94CC-C873BEC70910}" type="slidenum">
              <a:rPr lang="en-US" smtClean="0"/>
              <a:t>6</a:t>
            </a:fld>
            <a:endParaRPr lang="en-US"/>
          </a:p>
        </p:txBody>
      </p:sp>
    </p:spTree>
    <p:extLst>
      <p:ext uri="{BB962C8B-B14F-4D97-AF65-F5344CB8AC3E}">
        <p14:creationId xmlns:p14="http://schemas.microsoft.com/office/powerpoint/2010/main" val="2214431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 is customizable, allowing you to layer other information: </a:t>
            </a:r>
          </a:p>
          <a:p>
            <a:r>
              <a:rPr lang="en-US" dirty="0"/>
              <a:t>Such as sizing the nodes by how many genetic links they have.</a:t>
            </a:r>
          </a:p>
          <a:p>
            <a:r>
              <a:rPr lang="en-US" dirty="0"/>
              <a:t>Even color the nodes by outcomes</a:t>
            </a:r>
          </a:p>
          <a:p>
            <a:endParaRPr lang="en-US" dirty="0"/>
          </a:p>
          <a:p>
            <a:r>
              <a:rPr lang="en-US" dirty="0"/>
              <a:t>This gives you a better picture of how transmission patterns form and connect.</a:t>
            </a:r>
          </a:p>
        </p:txBody>
      </p:sp>
      <p:sp>
        <p:nvSpPr>
          <p:cNvPr id="4" name="Slide Number Placeholder 3"/>
          <p:cNvSpPr>
            <a:spLocks noGrp="1"/>
          </p:cNvSpPr>
          <p:nvPr>
            <p:ph type="sldNum" sz="quarter" idx="5"/>
          </p:nvPr>
        </p:nvSpPr>
        <p:spPr/>
        <p:txBody>
          <a:bodyPr/>
          <a:lstStyle/>
          <a:p>
            <a:fld id="{3350B706-9D79-4F4B-94CC-C873BEC70910}" type="slidenum">
              <a:rPr lang="en-US" smtClean="0"/>
              <a:t>7</a:t>
            </a:fld>
            <a:endParaRPr lang="en-US"/>
          </a:p>
        </p:txBody>
      </p:sp>
    </p:spTree>
    <p:extLst>
      <p:ext uri="{BB962C8B-B14F-4D97-AF65-F5344CB8AC3E}">
        <p14:creationId xmlns:p14="http://schemas.microsoft.com/office/powerpoint/2010/main" val="1601273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type of data is needed to create a MT TN?</a:t>
            </a:r>
            <a:br>
              <a:rPr lang="en-US" dirty="0"/>
            </a:br>
            <a:endParaRPr lang="en-US" dirty="0"/>
          </a:p>
          <a:p>
            <a:r>
              <a:rPr lang="en-US" dirty="0"/>
              <a:t>First you’ll need a line list, where each row represents a case or individual.</a:t>
            </a:r>
          </a:p>
          <a:p>
            <a:r>
              <a:rPr lang="en-US" dirty="0"/>
              <a:t>The line list may also include relevant demographic or epidemiological data.</a:t>
            </a:r>
          </a:p>
          <a:p>
            <a:endParaRPr lang="en-US" dirty="0"/>
          </a:p>
          <a:p>
            <a:r>
              <a:rPr lang="en-US" dirty="0"/>
              <a:t>Second, you’ll need linking data, in this instance an edge list. This list defines relationships between individuals such as who visited which facility, who was exposed or who had contact with who. </a:t>
            </a:r>
          </a:p>
          <a:p>
            <a:endParaRPr lang="en-US" dirty="0"/>
          </a:p>
          <a:p>
            <a:r>
              <a:rPr lang="en-US" dirty="0"/>
              <a:t>To take full advantage of MT, you’ll want to add some type of sequencing data whether it be </a:t>
            </a:r>
            <a:r>
              <a:rPr lang="en-US" dirty="0" err="1"/>
              <a:t>newick</a:t>
            </a:r>
            <a:r>
              <a:rPr lang="en-US" dirty="0"/>
              <a:t> files, raw sequencing, </a:t>
            </a:r>
            <a:r>
              <a:rPr lang="en-US" dirty="0" err="1"/>
              <a:t>snp</a:t>
            </a:r>
            <a:r>
              <a:rPr lang="en-US" dirty="0"/>
              <a:t> matrices, etc..</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BBD54CAE-FF8A-4720-B24E-1281AD1F6976}" type="slidenum">
              <a:rPr lang="en-US" altLang="en-US" smtClean="0"/>
              <a:pPr/>
              <a:t>8</a:t>
            </a:fld>
            <a:endParaRPr lang="en-US" altLang="en-US"/>
          </a:p>
        </p:txBody>
      </p:sp>
    </p:spTree>
    <p:extLst>
      <p:ext uri="{BB962C8B-B14F-4D97-AF65-F5344CB8AC3E}">
        <p14:creationId xmlns:p14="http://schemas.microsoft.com/office/powerpoint/2010/main" val="2898096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2C85-F195-0A32-030F-445186CA7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3BD37-1DA8-F104-99A4-37EC96429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621A5-F50A-5BA8-3D49-009DE46004C8}"/>
              </a:ext>
            </a:extLst>
          </p:cNvPr>
          <p:cNvSpPr>
            <a:spLocks noGrp="1"/>
          </p:cNvSpPr>
          <p:nvPr>
            <p:ph type="body" idx="1"/>
          </p:nvPr>
        </p:nvSpPr>
        <p:spPr/>
        <p:txBody>
          <a:bodyPr/>
          <a:lstStyle/>
          <a:p>
            <a:r>
              <a:rPr lang="en-US" dirty="0"/>
              <a:t>So now I’m going to show a demo. If you want to follow along. </a:t>
            </a:r>
          </a:p>
          <a:p>
            <a:r>
              <a:rPr lang="en-US" dirty="0"/>
              <a:t>Go to google and type in </a:t>
            </a:r>
            <a:r>
              <a:rPr lang="en-US" dirty="0" err="1"/>
              <a:t>microbetrace</a:t>
            </a:r>
            <a:r>
              <a:rPr lang="en-US" dirty="0"/>
              <a:t>, and on a second tap go to </a:t>
            </a:r>
            <a:r>
              <a:rPr lang="en-US" dirty="0" err="1"/>
              <a:t>github</a:t>
            </a:r>
            <a:r>
              <a:rPr lang="en-US" dirty="0"/>
              <a:t> download the </a:t>
            </a:r>
          </a:p>
          <a:p>
            <a:r>
              <a:rPr lang="en-US" dirty="0"/>
              <a:t>Notice that that we are loading the files NOT uploading files</a:t>
            </a:r>
          </a:p>
        </p:txBody>
      </p:sp>
      <p:sp>
        <p:nvSpPr>
          <p:cNvPr id="4" name="Slide Number Placeholder 3">
            <a:extLst>
              <a:ext uri="{FF2B5EF4-FFF2-40B4-BE49-F238E27FC236}">
                <a16:creationId xmlns:a16="http://schemas.microsoft.com/office/drawing/2014/main" id="{E3927B29-6F37-440E-38C8-E63E3699B5A4}"/>
              </a:ext>
            </a:extLst>
          </p:cNvPr>
          <p:cNvSpPr>
            <a:spLocks noGrp="1"/>
          </p:cNvSpPr>
          <p:nvPr>
            <p:ph type="sldNum" sz="quarter" idx="5"/>
          </p:nvPr>
        </p:nvSpPr>
        <p:spPr/>
        <p:txBody>
          <a:bodyPr/>
          <a:lstStyle/>
          <a:p>
            <a:fld id="{BBD54CAE-FF8A-4720-B24E-1281AD1F6976}" type="slidenum">
              <a:rPr lang="en-US" altLang="en-US" smtClean="0"/>
              <a:pPr/>
              <a:t>9</a:t>
            </a:fld>
            <a:endParaRPr lang="en-US" altLang="en-US"/>
          </a:p>
        </p:txBody>
      </p:sp>
    </p:spTree>
    <p:extLst>
      <p:ext uri="{BB962C8B-B14F-4D97-AF65-F5344CB8AC3E}">
        <p14:creationId xmlns:p14="http://schemas.microsoft.com/office/powerpoint/2010/main" val="1367229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2A04D-8B92-E284-B307-BE60F09BC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6C8C0-7349-5084-98BB-1F84ACDCA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681D0-B283-F67A-B54E-CF696359FD5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dirty="0"/>
              <a:t>READ SLIDE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dirty="0"/>
              <a:t>It is crucial that the same IDs are used consistently across both the edge list and the contact list to ensure data linkage. </a:t>
            </a:r>
          </a:p>
          <a:p>
            <a:endParaRPr lang="en-US" dirty="0"/>
          </a:p>
        </p:txBody>
      </p:sp>
      <p:sp>
        <p:nvSpPr>
          <p:cNvPr id="4" name="Slide Number Placeholder 3">
            <a:extLst>
              <a:ext uri="{FF2B5EF4-FFF2-40B4-BE49-F238E27FC236}">
                <a16:creationId xmlns:a16="http://schemas.microsoft.com/office/drawing/2014/main" id="{45F6A918-48D3-394A-7B6D-E1C98A6F3C62}"/>
              </a:ext>
            </a:extLst>
          </p:cNvPr>
          <p:cNvSpPr>
            <a:spLocks noGrp="1"/>
          </p:cNvSpPr>
          <p:nvPr>
            <p:ph type="sldNum" sz="quarter" idx="5"/>
          </p:nvPr>
        </p:nvSpPr>
        <p:spPr/>
        <p:txBody>
          <a:bodyPr/>
          <a:lstStyle/>
          <a:p>
            <a:fld id="{BBD54CAE-FF8A-4720-B24E-1281AD1F6976}" type="slidenum">
              <a:rPr lang="en-US" altLang="en-US" smtClean="0"/>
              <a:pPr/>
              <a:t>10</a:t>
            </a:fld>
            <a:endParaRPr lang="en-US" altLang="en-US"/>
          </a:p>
        </p:txBody>
      </p:sp>
    </p:spTree>
    <p:extLst>
      <p:ext uri="{BB962C8B-B14F-4D97-AF65-F5344CB8AC3E}">
        <p14:creationId xmlns:p14="http://schemas.microsoft.com/office/powerpoint/2010/main" val="1772885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4FABA-4B13-A2C9-1A57-402237142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C41E6-BE0D-F087-0A03-14D1718A06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01EB6-1EB8-7FE8-2AC1-A2CBC5734D31}"/>
              </a:ext>
            </a:extLst>
          </p:cNvPr>
          <p:cNvSpPr>
            <a:spLocks noGrp="1"/>
          </p:cNvSpPr>
          <p:nvPr>
            <p:ph type="body" idx="1"/>
          </p:nvPr>
        </p:nvSpPr>
        <p:spPr/>
        <p:txBody>
          <a:bodyPr/>
          <a:lstStyle/>
          <a:p>
            <a:r>
              <a:rPr lang="en-US" dirty="0"/>
              <a:t>READ SLIDE</a:t>
            </a:r>
          </a:p>
        </p:txBody>
      </p:sp>
      <p:sp>
        <p:nvSpPr>
          <p:cNvPr id="4" name="Slide Number Placeholder 3">
            <a:extLst>
              <a:ext uri="{FF2B5EF4-FFF2-40B4-BE49-F238E27FC236}">
                <a16:creationId xmlns:a16="http://schemas.microsoft.com/office/drawing/2014/main" id="{6291714E-D80A-55C8-960B-49BD481D2CB5}"/>
              </a:ext>
            </a:extLst>
          </p:cNvPr>
          <p:cNvSpPr>
            <a:spLocks noGrp="1"/>
          </p:cNvSpPr>
          <p:nvPr>
            <p:ph type="sldNum" sz="quarter" idx="5"/>
          </p:nvPr>
        </p:nvSpPr>
        <p:spPr/>
        <p:txBody>
          <a:bodyPr/>
          <a:lstStyle/>
          <a:p>
            <a:fld id="{BBD54CAE-FF8A-4720-B24E-1281AD1F6976}" type="slidenum">
              <a:rPr lang="en-US" altLang="en-US" smtClean="0"/>
              <a:pPr/>
              <a:t>11</a:t>
            </a:fld>
            <a:endParaRPr lang="en-US" altLang="en-US"/>
          </a:p>
        </p:txBody>
      </p:sp>
    </p:spTree>
    <p:extLst>
      <p:ext uri="{BB962C8B-B14F-4D97-AF65-F5344CB8AC3E}">
        <p14:creationId xmlns:p14="http://schemas.microsoft.com/office/powerpoint/2010/main" val="462520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165A0-CB15-5E71-8A05-32BF8E2E0C49}"/>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8009E929-4248-A141-68B0-46691AA0BFE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8DD51DCB-15C1-D815-A0D7-64CC19E02FD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7CBE5BD7-C140-E47D-478D-6846A6EBC536}"/>
              </a:ext>
            </a:extLst>
          </p:cNvPr>
          <p:cNvSpPr>
            <a:spLocks noGrp="1"/>
          </p:cNvSpPr>
          <p:nvPr>
            <p:ph type="sldNum" sz="quarter" idx="5"/>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38870C3-15D1-4F2F-86E3-52BEBDE4B988}" type="slidenum">
              <a:rPr lang="en-US" altLang="en-US">
                <a:latin typeface="Calibri" panose="020F0502020204030204" pitchFamily="34" charset="0"/>
              </a:rPr>
              <a:pPr/>
              <a:t>13</a:t>
            </a:fld>
            <a:endParaRPr lang="en-US" altLang="en-US">
              <a:latin typeface="Calibri" panose="020F0502020204030204" pitchFamily="34" charset="0"/>
            </a:endParaRPr>
          </a:p>
        </p:txBody>
      </p:sp>
    </p:spTree>
    <p:extLst>
      <p:ext uri="{BB962C8B-B14F-4D97-AF65-F5344CB8AC3E}">
        <p14:creationId xmlns:p14="http://schemas.microsoft.com/office/powerpoint/2010/main" val="3209173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3" descr="A picture containing text, electronics, circuit&#10;&#10;Description automatically generated">
            <a:extLst>
              <a:ext uri="{FF2B5EF4-FFF2-40B4-BE49-F238E27FC236}">
                <a16:creationId xmlns:a16="http://schemas.microsoft.com/office/drawing/2014/main" id="{4464CF48-9EDB-F24C-D6F9-51F53988583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37F6DAF0-5843-89B1-86C1-5FE806674E7F}"/>
              </a:ext>
            </a:extLst>
          </p:cNvPr>
          <p:cNvSpPr/>
          <p:nvPr userDrawn="1"/>
        </p:nvSpPr>
        <p:spPr>
          <a:xfrm rot="5400000">
            <a:off x="-2476500" y="2476500"/>
            <a:ext cx="6858000" cy="1905000"/>
          </a:xfrm>
          <a:prstGeom prst="rect">
            <a:avLst/>
          </a:prstGeom>
          <a:solidFill>
            <a:srgbClr val="2F5597"/>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6">
            <a:extLst>
              <a:ext uri="{FF2B5EF4-FFF2-40B4-BE49-F238E27FC236}">
                <a16:creationId xmlns:a16="http://schemas.microsoft.com/office/drawing/2014/main" id="{5B58E1CA-6E5A-BCB2-FA8D-D15E06D162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3513" y="5111750"/>
            <a:ext cx="1577975"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8"/>
          <p:cNvSpPr>
            <a:spLocks noGrp="1"/>
          </p:cNvSpPr>
          <p:nvPr>
            <p:ph type="body" sz="quarter" idx="13"/>
          </p:nvPr>
        </p:nvSpPr>
        <p:spPr>
          <a:xfrm>
            <a:off x="1905000" y="5192446"/>
            <a:ext cx="10287002" cy="990600"/>
          </a:xfrm>
          <a:prstGeom prst="rect">
            <a:avLst/>
          </a:prstGeom>
        </p:spPr>
        <p:txBody>
          <a:bodyPr>
            <a:normAutofit/>
          </a:bodyPr>
          <a:lstStyle>
            <a:lvl1pPr marL="0" indent="0" algn="ctr">
              <a:buNone/>
              <a:defRPr sz="4000">
                <a:solidFill>
                  <a:schemeClr val="bg1"/>
                </a:solidFill>
                <a:latin typeface="Arial" panose="020B0604020202020204" pitchFamily="34" charset="0"/>
                <a:cs typeface="Arial" panose="020B0604020202020204" pitchFamily="34" charset="0"/>
              </a:defRPr>
            </a:lvl1pPr>
            <a:lvl2pPr marL="342900" indent="0" algn="ctr">
              <a:buNone/>
              <a:defRPr sz="2900">
                <a:solidFill>
                  <a:schemeClr val="bg1"/>
                </a:solidFill>
                <a:latin typeface="Arial" panose="020B0604020202020204" pitchFamily="34" charset="0"/>
                <a:cs typeface="Arial" panose="020B0604020202020204" pitchFamily="34" charset="0"/>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586952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3" descr="Shape&#10;&#10;Description automatically generated">
            <a:extLst>
              <a:ext uri="{FF2B5EF4-FFF2-40B4-BE49-F238E27FC236}">
                <a16:creationId xmlns:a16="http://schemas.microsoft.com/office/drawing/2014/main" id="{82739EC6-CF2E-054F-D78D-50AB11DB414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763" y="1828800"/>
            <a:ext cx="1219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FC99A57-1B5E-F75C-DBC0-C3C3C04D1CFE}"/>
              </a:ext>
            </a:extLst>
          </p:cNvPr>
          <p:cNvSpPr txBox="1">
            <a:spLocks noChangeArrowheads="1"/>
          </p:cNvSpPr>
          <p:nvPr userDrawn="1"/>
        </p:nvSpPr>
        <p:spPr bwMode="auto">
          <a:xfrm>
            <a:off x="6096000" y="6505575"/>
            <a:ext cx="6467475" cy="27622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US" altLang="en-US" sz="1200" i="1" dirty="0">
                <a:solidFill>
                  <a:schemeClr val="bg1"/>
                </a:solidFill>
                <a:latin typeface="Times New Roman" panose="02020603050405020304" pitchFamily="18" charset="0"/>
                <a:cs typeface="Times New Roman" panose="02020603050405020304" pitchFamily="18" charset="0"/>
              </a:rPr>
              <a:t>To protect and improve the health and environment of all Kansans</a:t>
            </a:r>
          </a:p>
        </p:txBody>
      </p:sp>
    </p:spTree>
    <p:extLst>
      <p:ext uri="{BB962C8B-B14F-4D97-AF65-F5344CB8AC3E}">
        <p14:creationId xmlns:p14="http://schemas.microsoft.com/office/powerpoint/2010/main" val="730926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lor Bullet Title-Content Slide">
    <p:spTree>
      <p:nvGrpSpPr>
        <p:cNvPr id="1" name=""/>
        <p:cNvGrpSpPr/>
        <p:nvPr/>
      </p:nvGrpSpPr>
      <p:grpSpPr>
        <a:xfrm>
          <a:off x="0" y="0"/>
          <a:ext cx="0" cy="0"/>
          <a:chOff x="0" y="0"/>
          <a:chExt cx="0" cy="0"/>
        </a:xfrm>
      </p:grpSpPr>
      <p:pic>
        <p:nvPicPr>
          <p:cNvPr id="2" name="Picture 3" descr="Shape&#10;&#10;Description automatically generated">
            <a:extLst>
              <a:ext uri="{FF2B5EF4-FFF2-40B4-BE49-F238E27FC236}">
                <a16:creationId xmlns:a16="http://schemas.microsoft.com/office/drawing/2014/main" id="{77C4F03D-812B-695F-3D29-AD3474AB50D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763" y="1828800"/>
            <a:ext cx="1219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6011C5F-2A8E-D398-8905-935A78379836}"/>
              </a:ext>
            </a:extLst>
          </p:cNvPr>
          <p:cNvSpPr txBox="1">
            <a:spLocks noChangeArrowheads="1"/>
          </p:cNvSpPr>
          <p:nvPr userDrawn="1"/>
        </p:nvSpPr>
        <p:spPr bwMode="auto">
          <a:xfrm>
            <a:off x="6096000" y="6505575"/>
            <a:ext cx="6467475" cy="27622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US" altLang="en-US" sz="1200" i="1" dirty="0">
                <a:solidFill>
                  <a:schemeClr val="bg1"/>
                </a:solidFill>
                <a:latin typeface="Times New Roman" panose="02020603050405020304" pitchFamily="18" charset="0"/>
                <a:cs typeface="Times New Roman" panose="02020603050405020304" pitchFamily="18" charset="0"/>
              </a:rPr>
              <a:t>To protect and improve the health and environment of all Kansans</a:t>
            </a:r>
          </a:p>
        </p:txBody>
      </p:sp>
    </p:spTree>
    <p:extLst>
      <p:ext uri="{BB962C8B-B14F-4D97-AF65-F5344CB8AC3E}">
        <p14:creationId xmlns:p14="http://schemas.microsoft.com/office/powerpoint/2010/main" val="4269895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ture and Color Bullet Title-Content Slide">
    <p:spTree>
      <p:nvGrpSpPr>
        <p:cNvPr id="1" name=""/>
        <p:cNvGrpSpPr/>
        <p:nvPr/>
      </p:nvGrpSpPr>
      <p:grpSpPr>
        <a:xfrm>
          <a:off x="0" y="0"/>
          <a:ext cx="0" cy="0"/>
          <a:chOff x="0" y="0"/>
          <a:chExt cx="0" cy="0"/>
        </a:xfrm>
      </p:grpSpPr>
      <p:pic>
        <p:nvPicPr>
          <p:cNvPr id="2" name="Picture 3" descr="Shape&#10;&#10;Description automatically generated">
            <a:extLst>
              <a:ext uri="{FF2B5EF4-FFF2-40B4-BE49-F238E27FC236}">
                <a16:creationId xmlns:a16="http://schemas.microsoft.com/office/drawing/2014/main" id="{EE49A4A3-F59B-8420-96CC-A4C306C456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763" y="1828800"/>
            <a:ext cx="1219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B0D3146-E8FC-4509-0A5E-FEF4137C5085}"/>
              </a:ext>
            </a:extLst>
          </p:cNvPr>
          <p:cNvSpPr txBox="1">
            <a:spLocks noChangeArrowheads="1"/>
          </p:cNvSpPr>
          <p:nvPr userDrawn="1"/>
        </p:nvSpPr>
        <p:spPr bwMode="auto">
          <a:xfrm>
            <a:off x="6096000" y="6505575"/>
            <a:ext cx="6467475" cy="27622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US" altLang="en-US" sz="1200" i="1" dirty="0">
                <a:solidFill>
                  <a:schemeClr val="bg1"/>
                </a:solidFill>
                <a:latin typeface="Times New Roman" panose="02020603050405020304" pitchFamily="18" charset="0"/>
                <a:cs typeface="Times New Roman" panose="02020603050405020304" pitchFamily="18" charset="0"/>
              </a:rPr>
              <a:t>To protect and improve the health and environment of all Kansans</a:t>
            </a:r>
          </a:p>
        </p:txBody>
      </p:sp>
    </p:spTree>
    <p:extLst>
      <p:ext uri="{BB962C8B-B14F-4D97-AF65-F5344CB8AC3E}">
        <p14:creationId xmlns:p14="http://schemas.microsoft.com/office/powerpoint/2010/main" val="569770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3" descr="Shape&#10;&#10;Description automatically generated">
            <a:extLst>
              <a:ext uri="{FF2B5EF4-FFF2-40B4-BE49-F238E27FC236}">
                <a16:creationId xmlns:a16="http://schemas.microsoft.com/office/drawing/2014/main" id="{BBDDDF1E-FB3B-27CB-E77C-21114AB0F82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763" y="1828800"/>
            <a:ext cx="1219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D876B01-E8AE-FB0C-88F2-5A5F637610F1}"/>
              </a:ext>
            </a:extLst>
          </p:cNvPr>
          <p:cNvSpPr txBox="1">
            <a:spLocks noChangeArrowheads="1"/>
          </p:cNvSpPr>
          <p:nvPr userDrawn="1"/>
        </p:nvSpPr>
        <p:spPr bwMode="auto">
          <a:xfrm>
            <a:off x="6096000" y="6505575"/>
            <a:ext cx="6467475" cy="27622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US" altLang="en-US" sz="1200" i="1" dirty="0">
                <a:solidFill>
                  <a:schemeClr val="bg1"/>
                </a:solidFill>
                <a:latin typeface="Times New Roman" panose="02020603050405020304" pitchFamily="18" charset="0"/>
                <a:cs typeface="Times New Roman" panose="02020603050405020304" pitchFamily="18" charset="0"/>
              </a:rPr>
              <a:t>To protect and improve the health and environment of all Kansans</a:t>
            </a:r>
          </a:p>
        </p:txBody>
      </p:sp>
    </p:spTree>
    <p:extLst>
      <p:ext uri="{BB962C8B-B14F-4D97-AF65-F5344CB8AC3E}">
        <p14:creationId xmlns:p14="http://schemas.microsoft.com/office/powerpoint/2010/main" val="11372395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E2BCDFB-1713-5AB8-0ABC-DE3DFE617FBA}"/>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6B9E2DB-F255-69CE-DA5D-8BF36C6BED04}"/>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4229" r:id="rId1"/>
    <p:sldLayoutId id="2147484230" r:id="rId2"/>
    <p:sldLayoutId id="2147484231" r:id="rId3"/>
    <p:sldLayoutId id="2147484232" r:id="rId4"/>
    <p:sldLayoutId id="2147484233" r:id="rId5"/>
  </p:sldLayoutIdLst>
  <p:txStyles>
    <p:titleStyle>
      <a:lvl1pPr algn="l" rtl="0" eaLnBrk="0" fontAlgn="base" hangingPunct="0">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hyperlink" Target="https://microbetrace.cdc.gov/MicrobeTrac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3BD13E-45E4-4788-0233-6BCFCABAFF1A}"/>
              </a:ext>
            </a:extLst>
          </p:cNvPr>
          <p:cNvSpPr/>
          <p:nvPr/>
        </p:nvSpPr>
        <p:spPr>
          <a:xfrm flipV="1">
            <a:off x="1905000" y="3581400"/>
            <a:ext cx="10287000" cy="3276600"/>
          </a:xfrm>
          <a:prstGeom prst="rect">
            <a:avLst/>
          </a:prstGeom>
          <a:solidFill>
            <a:srgbClr val="BCA49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18" name="Text Placeholder 1">
            <a:extLst>
              <a:ext uri="{FF2B5EF4-FFF2-40B4-BE49-F238E27FC236}">
                <a16:creationId xmlns:a16="http://schemas.microsoft.com/office/drawing/2014/main" id="{68B5B0A7-12A7-F438-0D2E-75C3120E8DB8}"/>
              </a:ext>
            </a:extLst>
          </p:cNvPr>
          <p:cNvSpPr>
            <a:spLocks noGrp="1"/>
          </p:cNvSpPr>
          <p:nvPr>
            <p:ph type="body" sz="quarter" idx="13"/>
          </p:nvPr>
        </p:nvSpPr>
        <p:spPr>
          <a:xfrm>
            <a:off x="1905000" y="4648200"/>
            <a:ext cx="10287000" cy="1217769"/>
          </a:xfrm>
        </p:spPr>
        <p:txBody>
          <a:bodyPr anchor="ctr" anchorCtr="1">
            <a:noAutofit/>
          </a:bodyPr>
          <a:lstStyle/>
          <a:p>
            <a:pPr>
              <a:lnSpc>
                <a:spcPct val="107000"/>
              </a:lnSpc>
              <a:spcBef>
                <a:spcPts val="0"/>
              </a:spcBef>
              <a:spcAft>
                <a:spcPts val="800"/>
              </a:spcAft>
            </a:pPr>
            <a:r>
              <a:rPr lang="en-US" sz="3600" b="1" kern="100"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Mapping a multi-facility Carbapenem-resistant </a:t>
            </a:r>
            <a:r>
              <a:rPr lang="en-US" sz="3600" b="1" i="1" kern="100"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Acinetobacter baumannii  </a:t>
            </a:r>
            <a:r>
              <a:rPr lang="en-US" sz="3600" b="1" kern="100"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transmission network using </a:t>
            </a:r>
            <a:r>
              <a:rPr lang="en-US" sz="3600" b="1" kern="100" dirty="0" err="1">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MicrobeTrace</a:t>
            </a:r>
            <a:endParaRPr lang="en-US" sz="3600" b="1" kern="100"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endParaRPr>
          </a:p>
          <a:p>
            <a:pPr>
              <a:lnSpc>
                <a:spcPct val="107000"/>
              </a:lnSpc>
              <a:spcBef>
                <a:spcPts val="0"/>
              </a:spcBef>
              <a:spcAft>
                <a:spcPts val="800"/>
              </a:spcAft>
            </a:pPr>
            <a:r>
              <a:rPr lang="en-US" sz="2400" b="1" kern="100"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Mayra Trujillo, MS, Molecular Epidemiologist</a:t>
            </a:r>
            <a:endParaRPr lang="en-US" sz="2400" b="1" dirty="0">
              <a:effectLst>
                <a:outerShdw blurRad="38100" dist="38100" dir="2700000" algn="tl">
                  <a:srgbClr val="000000">
                    <a:alpha val="43137"/>
                  </a:srgbClr>
                </a:outerShdw>
              </a:effectLst>
            </a:endParaRPr>
          </a:p>
          <a:p>
            <a:pPr>
              <a:lnSpc>
                <a:spcPct val="100000"/>
              </a:lnSpc>
              <a:defRPr/>
            </a:pPr>
            <a:r>
              <a:rPr lang="en-US" sz="2800" b="1" dirty="0">
                <a:effectLst>
                  <a:outerShdw blurRad="38100" dist="38100" dir="2700000" algn="tl">
                    <a:srgbClr val="000000">
                      <a:alpha val="43137"/>
                    </a:srgbClr>
                  </a:outerShdw>
                </a:effectLst>
                <a:latin typeface="Arial"/>
                <a:cs typeface="Arial"/>
              </a:rPr>
              <a:t> </a:t>
            </a:r>
            <a:r>
              <a:rPr lang="en-US" sz="2400" b="1" dirty="0">
                <a:effectLst>
                  <a:outerShdw blurRad="38100" dist="38100" dir="2700000" algn="tl">
                    <a:srgbClr val="000000">
                      <a:alpha val="43137"/>
                    </a:srgbClr>
                  </a:outerShdw>
                </a:effectLst>
                <a:latin typeface="Arial"/>
                <a:cs typeface="Arial"/>
              </a:rPr>
              <a:t>April 2026</a:t>
            </a:r>
            <a:endParaRPr lang="en-US" sz="2400" b="1" dirty="0">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A367FDFB-D9DC-512F-6927-8C7233279E4B}"/>
              </a:ext>
            </a:extLst>
          </p:cNvPr>
          <p:cNvSpPr txBox="1">
            <a:spLocks noChangeArrowheads="1"/>
          </p:cNvSpPr>
          <p:nvPr/>
        </p:nvSpPr>
        <p:spPr bwMode="auto">
          <a:xfrm>
            <a:off x="1371600" y="533400"/>
            <a:ext cx="8686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r>
              <a:rPr lang="en-US" altLang="en-US" sz="3600" b="1" dirty="0">
                <a:solidFill>
                  <a:srgbClr val="2F5597"/>
                </a:solidFill>
              </a:rPr>
              <a:t>Learning objectives</a:t>
            </a:r>
          </a:p>
        </p:txBody>
      </p:sp>
      <p:sp>
        <p:nvSpPr>
          <p:cNvPr id="5" name="TextBox 4">
            <a:extLst>
              <a:ext uri="{FF2B5EF4-FFF2-40B4-BE49-F238E27FC236}">
                <a16:creationId xmlns:a16="http://schemas.microsoft.com/office/drawing/2014/main" id="{FC8B46CC-C5E0-89C4-BD07-8B246AB3EC0B}"/>
              </a:ext>
            </a:extLst>
          </p:cNvPr>
          <p:cNvSpPr txBox="1"/>
          <p:nvPr/>
        </p:nvSpPr>
        <p:spPr>
          <a:xfrm>
            <a:off x="1447800" y="2286000"/>
            <a:ext cx="8458200" cy="830997"/>
          </a:xfrm>
          <a:prstGeom prst="rect">
            <a:avLst/>
          </a:prstGeom>
          <a:noFill/>
        </p:spPr>
        <p:txBody>
          <a:bodyPr wrap="square">
            <a:spAutoFit/>
          </a:bodyPr>
          <a:lstStyle/>
          <a:p>
            <a:pPr marL="342900" indent="-342900">
              <a:buFont typeface="Arial" panose="020B0604020202020204" pitchFamily="34" charset="0"/>
              <a:buChar char="•"/>
            </a:pPr>
            <a:r>
              <a:rPr lang="en-US" sz="2400" dirty="0"/>
              <a:t>Describe what </a:t>
            </a:r>
            <a:r>
              <a:rPr lang="en-US" sz="2400" dirty="0" err="1"/>
              <a:t>MicrobeTrace</a:t>
            </a:r>
            <a:r>
              <a:rPr lang="en-US" sz="2400" dirty="0"/>
              <a:t> is and its role in public health data visualization</a:t>
            </a:r>
          </a:p>
        </p:txBody>
      </p:sp>
      <p:sp>
        <p:nvSpPr>
          <p:cNvPr id="7" name="TextBox 6">
            <a:extLst>
              <a:ext uri="{FF2B5EF4-FFF2-40B4-BE49-F238E27FC236}">
                <a16:creationId xmlns:a16="http://schemas.microsoft.com/office/drawing/2014/main" id="{7872758F-9E3C-2AB0-8A32-BC56E79503E4}"/>
              </a:ext>
            </a:extLst>
          </p:cNvPr>
          <p:cNvSpPr txBox="1"/>
          <p:nvPr/>
        </p:nvSpPr>
        <p:spPr>
          <a:xfrm>
            <a:off x="1447800" y="1524000"/>
            <a:ext cx="8153400" cy="461665"/>
          </a:xfrm>
          <a:prstGeom prst="rect">
            <a:avLst/>
          </a:prstGeom>
          <a:noFill/>
        </p:spPr>
        <p:txBody>
          <a:bodyPr wrap="square">
            <a:spAutoFit/>
          </a:bodyPr>
          <a:lstStyle/>
          <a:p>
            <a:r>
              <a:rPr lang="en-US" sz="2400" dirty="0"/>
              <a:t>After participating in this session, you should be able to:</a:t>
            </a:r>
          </a:p>
        </p:txBody>
      </p:sp>
      <p:sp>
        <p:nvSpPr>
          <p:cNvPr id="8" name="TextBox 7">
            <a:extLst>
              <a:ext uri="{FF2B5EF4-FFF2-40B4-BE49-F238E27FC236}">
                <a16:creationId xmlns:a16="http://schemas.microsoft.com/office/drawing/2014/main" id="{0C3B9C8C-B7B2-B590-C1D2-87773D7B7B71}"/>
              </a:ext>
            </a:extLst>
          </p:cNvPr>
          <p:cNvSpPr txBox="1"/>
          <p:nvPr/>
        </p:nvSpPr>
        <p:spPr>
          <a:xfrm>
            <a:off x="1447801" y="2286000"/>
            <a:ext cx="8458200" cy="830997"/>
          </a:xfrm>
          <a:prstGeom prst="rect">
            <a:avLst/>
          </a:prstGeom>
          <a:noFill/>
        </p:spPr>
        <p:txBody>
          <a:bodyPr wrap="square" lIns="91440" tIns="45720" rIns="91440" bIns="45720" anchor="t">
            <a:spAutoFit/>
          </a:bodyPr>
          <a:lstStyle/>
          <a:p>
            <a:pPr marL="342900" indent="-342900">
              <a:buFont typeface="Arial" panose="020B0604020202020204" pitchFamily="34" charset="0"/>
              <a:buChar char="•"/>
            </a:pPr>
            <a:r>
              <a:rPr lang="en-US" sz="2400" dirty="0">
                <a:latin typeface="Arial"/>
                <a:cs typeface="Arial"/>
              </a:rPr>
              <a:t>Describe what </a:t>
            </a:r>
            <a:r>
              <a:rPr lang="en-US" sz="2400" err="1">
                <a:latin typeface="Arial"/>
                <a:cs typeface="Arial"/>
              </a:rPr>
              <a:t>MicrobeTrace</a:t>
            </a:r>
            <a:r>
              <a:rPr lang="en-US" sz="2400" dirty="0">
                <a:latin typeface="Arial"/>
                <a:cs typeface="Arial"/>
              </a:rPr>
              <a:t> is and its role in public health data visualization</a:t>
            </a:r>
          </a:p>
        </p:txBody>
      </p:sp>
      <p:sp>
        <p:nvSpPr>
          <p:cNvPr id="9" name="TextBox 8">
            <a:extLst>
              <a:ext uri="{FF2B5EF4-FFF2-40B4-BE49-F238E27FC236}">
                <a16:creationId xmlns:a16="http://schemas.microsoft.com/office/drawing/2014/main" id="{531E34EC-C17B-BC7B-FAB8-36A968345D71}"/>
              </a:ext>
            </a:extLst>
          </p:cNvPr>
          <p:cNvSpPr txBox="1"/>
          <p:nvPr/>
        </p:nvSpPr>
        <p:spPr>
          <a:xfrm>
            <a:off x="1447800" y="3276600"/>
            <a:ext cx="8458200" cy="461665"/>
          </a:xfrm>
          <a:prstGeom prst="rect">
            <a:avLst/>
          </a:prstGeom>
          <a:noFill/>
        </p:spPr>
        <p:txBody>
          <a:bodyPr wrap="square">
            <a:spAutoFit/>
          </a:bodyPr>
          <a:lstStyle/>
          <a:p>
            <a:pPr marL="342900" indent="-342900">
              <a:buFont typeface="Arial" panose="020B0604020202020204" pitchFamily="34" charset="0"/>
              <a:buChar char="•"/>
            </a:pPr>
            <a:r>
              <a:rPr lang="en-US" sz="2400" dirty="0"/>
              <a:t>Explain the key functions and capabilities of </a:t>
            </a:r>
            <a:r>
              <a:rPr lang="en-US" sz="2400" dirty="0" err="1"/>
              <a:t>MicrobeTrace</a:t>
            </a:r>
            <a:endParaRPr lang="en-US" sz="2400" dirty="0"/>
          </a:p>
        </p:txBody>
      </p:sp>
      <p:sp>
        <p:nvSpPr>
          <p:cNvPr id="10" name="TextBox 9">
            <a:extLst>
              <a:ext uri="{FF2B5EF4-FFF2-40B4-BE49-F238E27FC236}">
                <a16:creationId xmlns:a16="http://schemas.microsoft.com/office/drawing/2014/main" id="{B7170107-4898-0987-FBF5-DB5F679DAC71}"/>
              </a:ext>
            </a:extLst>
          </p:cNvPr>
          <p:cNvSpPr txBox="1"/>
          <p:nvPr/>
        </p:nvSpPr>
        <p:spPr>
          <a:xfrm>
            <a:off x="1447800" y="3962400"/>
            <a:ext cx="8458200" cy="830997"/>
          </a:xfrm>
          <a:prstGeom prst="rect">
            <a:avLst/>
          </a:prstGeom>
          <a:noFill/>
        </p:spPr>
        <p:txBody>
          <a:bodyPr wrap="square">
            <a:spAutoFit/>
          </a:bodyPr>
          <a:lstStyle/>
          <a:p>
            <a:pPr marL="342900" indent="-342900">
              <a:buFont typeface="Arial" panose="020B0604020202020204" pitchFamily="34" charset="0"/>
              <a:buChar char="•"/>
            </a:pPr>
            <a:r>
              <a:rPr lang="en-US" sz="2400" dirty="0"/>
              <a:t>Define transmission networks and their relevance to outbreak investigations</a:t>
            </a:r>
          </a:p>
        </p:txBody>
      </p:sp>
      <p:sp>
        <p:nvSpPr>
          <p:cNvPr id="11" name="TextBox 10">
            <a:extLst>
              <a:ext uri="{FF2B5EF4-FFF2-40B4-BE49-F238E27FC236}">
                <a16:creationId xmlns:a16="http://schemas.microsoft.com/office/drawing/2014/main" id="{936C1B7A-0887-BDF2-C1C5-DFD532934AE7}"/>
              </a:ext>
            </a:extLst>
          </p:cNvPr>
          <p:cNvSpPr txBox="1"/>
          <p:nvPr/>
        </p:nvSpPr>
        <p:spPr>
          <a:xfrm>
            <a:off x="1447800" y="4953000"/>
            <a:ext cx="8458200" cy="830997"/>
          </a:xfrm>
          <a:prstGeom prst="rect">
            <a:avLst/>
          </a:prstGeom>
          <a:noFill/>
        </p:spPr>
        <p:txBody>
          <a:bodyPr wrap="square">
            <a:spAutoFit/>
          </a:bodyPr>
          <a:lstStyle/>
          <a:p>
            <a:pPr marL="342900" indent="-342900">
              <a:buFont typeface="Arial" panose="020B0604020202020204" pitchFamily="34" charset="0"/>
              <a:buChar char="•"/>
            </a:pPr>
            <a:r>
              <a:rPr lang="en-US" sz="2400" dirty="0"/>
              <a:t>Identify the types of data and information required to use </a:t>
            </a:r>
            <a:r>
              <a:rPr lang="en-US" sz="2400" dirty="0" err="1"/>
              <a:t>MicrobeTrace</a:t>
            </a:r>
            <a:r>
              <a:rPr lang="en-US" sz="2400" dirty="0"/>
              <a:t> effectively</a:t>
            </a:r>
          </a:p>
        </p:txBody>
      </p:sp>
    </p:spTree>
    <p:extLst>
      <p:ext uri="{BB962C8B-B14F-4D97-AF65-F5344CB8AC3E}">
        <p14:creationId xmlns:p14="http://schemas.microsoft.com/office/powerpoint/2010/main" val="917610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7B295DE5-6DB0-1C92-1145-96A61BCA98BF}"/>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FontTx/>
              <a:buNone/>
            </a:pPr>
            <a:r>
              <a:rPr lang="en-US" altLang="en-US" sz="3600" b="1" dirty="0" err="1">
                <a:solidFill>
                  <a:srgbClr val="2F5597"/>
                </a:solidFill>
              </a:rPr>
              <a:t>MicrobeTrace</a:t>
            </a:r>
            <a:endParaRPr lang="en-US" altLang="en-US" sz="3600" b="1" dirty="0">
              <a:solidFill>
                <a:srgbClr val="2F5597"/>
              </a:solidFill>
            </a:endParaRPr>
          </a:p>
        </p:txBody>
      </p:sp>
      <p:pic>
        <p:nvPicPr>
          <p:cNvPr id="5" name="Picture 4">
            <a:extLst>
              <a:ext uri="{FF2B5EF4-FFF2-40B4-BE49-F238E27FC236}">
                <a16:creationId xmlns:a16="http://schemas.microsoft.com/office/drawing/2014/main" id="{1A5A1D7A-3C0B-E99A-3445-7E713845DA03}"/>
              </a:ext>
            </a:extLst>
          </p:cNvPr>
          <p:cNvPicPr>
            <a:picLocks noChangeAspect="1"/>
          </p:cNvPicPr>
          <p:nvPr/>
        </p:nvPicPr>
        <p:blipFill>
          <a:blip r:embed="rId3"/>
          <a:stretch>
            <a:fillRect/>
          </a:stretch>
        </p:blipFill>
        <p:spPr>
          <a:xfrm>
            <a:off x="6934200" y="1905000"/>
            <a:ext cx="4891840" cy="3886200"/>
          </a:xfrm>
          <a:prstGeom prst="rect">
            <a:avLst/>
          </a:prstGeom>
        </p:spPr>
      </p:pic>
      <p:sp>
        <p:nvSpPr>
          <p:cNvPr id="7" name="TextBox 6">
            <a:extLst>
              <a:ext uri="{FF2B5EF4-FFF2-40B4-BE49-F238E27FC236}">
                <a16:creationId xmlns:a16="http://schemas.microsoft.com/office/drawing/2014/main" id="{D71D1EA9-0401-7111-45E5-6AA79C8EDDB4}"/>
              </a:ext>
            </a:extLst>
          </p:cNvPr>
          <p:cNvSpPr txBox="1"/>
          <p:nvPr/>
        </p:nvSpPr>
        <p:spPr>
          <a:xfrm>
            <a:off x="838200" y="1524000"/>
            <a:ext cx="6277706" cy="523220"/>
          </a:xfrm>
          <a:prstGeom prst="rect">
            <a:avLst/>
          </a:prstGeom>
          <a:noFill/>
        </p:spPr>
        <p:txBody>
          <a:bodyPr wrap="square">
            <a:spAutoFit/>
          </a:bodyPr>
          <a:lstStyle/>
          <a:p>
            <a:r>
              <a:rPr lang="en-US" sz="2800" b="1" dirty="0"/>
              <a:t>What is </a:t>
            </a:r>
            <a:r>
              <a:rPr lang="en-US" sz="2800" b="1" dirty="0" err="1"/>
              <a:t>MicrobeTrace</a:t>
            </a:r>
            <a:r>
              <a:rPr lang="en-US" sz="2800" b="1" dirty="0"/>
              <a:t>?</a:t>
            </a:r>
            <a:endParaRPr lang="en-US" sz="2800" dirty="0"/>
          </a:p>
        </p:txBody>
      </p:sp>
      <p:sp>
        <p:nvSpPr>
          <p:cNvPr id="10" name="TextBox 9">
            <a:extLst>
              <a:ext uri="{FF2B5EF4-FFF2-40B4-BE49-F238E27FC236}">
                <a16:creationId xmlns:a16="http://schemas.microsoft.com/office/drawing/2014/main" id="{BD709ED6-5E05-8727-F66F-23A70EA21B3D}"/>
              </a:ext>
            </a:extLst>
          </p:cNvPr>
          <p:cNvSpPr txBox="1"/>
          <p:nvPr/>
        </p:nvSpPr>
        <p:spPr>
          <a:xfrm>
            <a:off x="990600" y="2286000"/>
            <a:ext cx="6277706" cy="1200329"/>
          </a:xfrm>
          <a:prstGeom prst="rect">
            <a:avLst/>
          </a:prstGeom>
          <a:noFill/>
        </p:spPr>
        <p:txBody>
          <a:bodyPr wrap="square">
            <a:spAutoFit/>
          </a:bodyPr>
          <a:lstStyle/>
          <a:p>
            <a:pPr marL="285750" indent="-285750">
              <a:buFont typeface="Arial" panose="020B0604020202020204" pitchFamily="34" charset="0"/>
              <a:buChar char="•"/>
            </a:pPr>
            <a:r>
              <a:rPr lang="en-US" sz="2400" dirty="0"/>
              <a:t>A powerful, secure data visualization tool to map transmission networks and associated data</a:t>
            </a:r>
          </a:p>
        </p:txBody>
      </p:sp>
      <p:sp>
        <p:nvSpPr>
          <p:cNvPr id="13" name="TextBox 12">
            <a:extLst>
              <a:ext uri="{FF2B5EF4-FFF2-40B4-BE49-F238E27FC236}">
                <a16:creationId xmlns:a16="http://schemas.microsoft.com/office/drawing/2014/main" id="{08ADBA15-76DD-E1CA-CD20-BEE36B4744C3}"/>
              </a:ext>
            </a:extLst>
          </p:cNvPr>
          <p:cNvSpPr txBox="1"/>
          <p:nvPr/>
        </p:nvSpPr>
        <p:spPr>
          <a:xfrm>
            <a:off x="990600" y="4038600"/>
            <a:ext cx="6277706" cy="461665"/>
          </a:xfrm>
          <a:prstGeom prst="rect">
            <a:avLst/>
          </a:prstGeom>
          <a:noFill/>
        </p:spPr>
        <p:txBody>
          <a:bodyPr wrap="square">
            <a:spAutoFit/>
          </a:bodyPr>
          <a:lstStyle/>
          <a:p>
            <a:pPr marL="285750" indent="-285750">
              <a:buFont typeface="Arial" panose="020B0604020202020204" pitchFamily="34" charset="0"/>
              <a:buChar char="•"/>
            </a:pPr>
            <a:r>
              <a:rPr lang="en-US" sz="2400" dirty="0"/>
              <a:t>Handles various data inputs</a:t>
            </a:r>
          </a:p>
        </p:txBody>
      </p:sp>
      <p:sp>
        <p:nvSpPr>
          <p:cNvPr id="15" name="TextBox 14">
            <a:extLst>
              <a:ext uri="{FF2B5EF4-FFF2-40B4-BE49-F238E27FC236}">
                <a16:creationId xmlns:a16="http://schemas.microsoft.com/office/drawing/2014/main" id="{6DA313B4-1FD1-3776-94D8-472600E160CD}"/>
              </a:ext>
            </a:extLst>
          </p:cNvPr>
          <p:cNvSpPr txBox="1"/>
          <p:nvPr/>
        </p:nvSpPr>
        <p:spPr>
          <a:xfrm>
            <a:off x="990600" y="3429000"/>
            <a:ext cx="6277706" cy="461665"/>
          </a:xfrm>
          <a:prstGeom prst="rect">
            <a:avLst/>
          </a:prstGeom>
          <a:noFill/>
        </p:spPr>
        <p:txBody>
          <a:bodyPr wrap="square">
            <a:spAutoFit/>
          </a:bodyPr>
          <a:lstStyle/>
          <a:p>
            <a:pPr marL="285750" indent="-285750">
              <a:buFont typeface="Arial" panose="020B0604020202020204" pitchFamily="34" charset="0"/>
              <a:buChar char="•"/>
            </a:pPr>
            <a:r>
              <a:rPr lang="en-US" sz="2400" dirty="0"/>
              <a:t>Various analytical tools</a:t>
            </a:r>
          </a:p>
        </p:txBody>
      </p:sp>
      <p:sp>
        <p:nvSpPr>
          <p:cNvPr id="17" name="TextBox 16">
            <a:extLst>
              <a:ext uri="{FF2B5EF4-FFF2-40B4-BE49-F238E27FC236}">
                <a16:creationId xmlns:a16="http://schemas.microsoft.com/office/drawing/2014/main" id="{CC1C3EA2-74DC-A088-0471-6EAC13B9E052}"/>
              </a:ext>
            </a:extLst>
          </p:cNvPr>
          <p:cNvSpPr txBox="1"/>
          <p:nvPr/>
        </p:nvSpPr>
        <p:spPr>
          <a:xfrm>
            <a:off x="961294" y="5334000"/>
            <a:ext cx="6277706" cy="1200329"/>
          </a:xfrm>
          <a:prstGeom prst="rect">
            <a:avLst/>
          </a:prstGeom>
          <a:noFill/>
        </p:spPr>
        <p:txBody>
          <a:bodyPr wrap="square">
            <a:spAutoFit/>
          </a:bodyPr>
          <a:lstStyle/>
          <a:p>
            <a:pPr marL="285750" indent="-285750">
              <a:buFont typeface="Arial" panose="020B0604020202020204" pitchFamily="34" charset="0"/>
              <a:buChar char="•"/>
            </a:pPr>
            <a:r>
              <a:rPr lang="en-US" sz="2400" dirty="0"/>
              <a:t>Operates entirely on your web-browser</a:t>
            </a:r>
          </a:p>
          <a:p>
            <a:pPr marL="742950" lvl="1" indent="-285750">
              <a:buFont typeface="Arial" panose="020B0604020202020204" pitchFamily="34" charset="0"/>
              <a:buChar char="•"/>
            </a:pPr>
            <a:r>
              <a:rPr lang="en-US" sz="2400" dirty="0"/>
              <a:t>Does NOT communicate information over the web</a:t>
            </a:r>
          </a:p>
        </p:txBody>
      </p:sp>
      <p:sp>
        <p:nvSpPr>
          <p:cNvPr id="18" name="TextBox 17">
            <a:extLst>
              <a:ext uri="{FF2B5EF4-FFF2-40B4-BE49-F238E27FC236}">
                <a16:creationId xmlns:a16="http://schemas.microsoft.com/office/drawing/2014/main" id="{B9357D9E-C2E3-2EA4-942C-A20A4DBBE26B}"/>
              </a:ext>
            </a:extLst>
          </p:cNvPr>
          <p:cNvSpPr txBox="1"/>
          <p:nvPr/>
        </p:nvSpPr>
        <p:spPr>
          <a:xfrm>
            <a:off x="152400" y="6561221"/>
            <a:ext cx="3510844" cy="261610"/>
          </a:xfrm>
          <a:prstGeom prst="rect">
            <a:avLst/>
          </a:prstGeom>
          <a:noFill/>
        </p:spPr>
        <p:txBody>
          <a:bodyPr wrap="square" rtlCol="0">
            <a:spAutoFit/>
          </a:bodyPr>
          <a:lstStyle/>
          <a:p>
            <a:r>
              <a:rPr lang="en-US" sz="1100" dirty="0"/>
              <a:t>https://microbetrace.cdc.gov/MicrobeTrace/</a:t>
            </a:r>
          </a:p>
        </p:txBody>
      </p:sp>
      <p:sp>
        <p:nvSpPr>
          <p:cNvPr id="2" name="TextBox 1">
            <a:extLst>
              <a:ext uri="{FF2B5EF4-FFF2-40B4-BE49-F238E27FC236}">
                <a16:creationId xmlns:a16="http://schemas.microsoft.com/office/drawing/2014/main" id="{2775DE44-B618-F7E1-CB8B-434179E1221B}"/>
              </a:ext>
            </a:extLst>
          </p:cNvPr>
          <p:cNvSpPr txBox="1"/>
          <p:nvPr/>
        </p:nvSpPr>
        <p:spPr>
          <a:xfrm>
            <a:off x="990600" y="4648200"/>
            <a:ext cx="6277706" cy="461665"/>
          </a:xfrm>
          <a:prstGeom prst="rect">
            <a:avLst/>
          </a:prstGeom>
          <a:noFill/>
        </p:spPr>
        <p:txBody>
          <a:bodyPr wrap="square">
            <a:spAutoFit/>
          </a:bodyPr>
          <a:lstStyle/>
          <a:p>
            <a:pPr marL="285750" indent="-285750">
              <a:buFont typeface="Arial" panose="020B0604020202020204" pitchFamily="34" charset="0"/>
              <a:buChar char="•"/>
            </a:pPr>
            <a:r>
              <a:rPr lang="en-US" sz="2400" dirty="0"/>
              <a:t>Pathogen agnostic</a:t>
            </a:r>
          </a:p>
        </p:txBody>
      </p:sp>
    </p:spTree>
    <p:extLst>
      <p:ext uri="{BB962C8B-B14F-4D97-AF65-F5344CB8AC3E}">
        <p14:creationId xmlns:p14="http://schemas.microsoft.com/office/powerpoint/2010/main" val="3591782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0E792F3A-47D4-3BAB-D619-F9B4C48BB51C}"/>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FontTx/>
              <a:buNone/>
            </a:pPr>
            <a:r>
              <a:rPr lang="en-US" altLang="en-US" sz="3600" b="1" dirty="0">
                <a:solidFill>
                  <a:srgbClr val="2F5597"/>
                </a:solidFill>
              </a:rPr>
              <a:t>Transmission Networks</a:t>
            </a:r>
          </a:p>
        </p:txBody>
      </p:sp>
      <p:sp>
        <p:nvSpPr>
          <p:cNvPr id="3" name="TextBox 2">
            <a:extLst>
              <a:ext uri="{FF2B5EF4-FFF2-40B4-BE49-F238E27FC236}">
                <a16:creationId xmlns:a16="http://schemas.microsoft.com/office/drawing/2014/main" id="{30EC5440-8F6A-6E0A-DA70-5D3783602AFE}"/>
              </a:ext>
            </a:extLst>
          </p:cNvPr>
          <p:cNvSpPr txBox="1"/>
          <p:nvPr/>
        </p:nvSpPr>
        <p:spPr>
          <a:xfrm>
            <a:off x="152400" y="1447800"/>
            <a:ext cx="6277706" cy="523220"/>
          </a:xfrm>
          <a:prstGeom prst="rect">
            <a:avLst/>
          </a:prstGeom>
          <a:noFill/>
        </p:spPr>
        <p:txBody>
          <a:bodyPr wrap="square" lIns="91440" tIns="45720" rIns="91440" bIns="45720" anchor="t">
            <a:spAutoFit/>
          </a:bodyPr>
          <a:lstStyle/>
          <a:p>
            <a:r>
              <a:rPr lang="en-US" sz="2800" b="1" dirty="0">
                <a:latin typeface="Arial"/>
                <a:cs typeface="Arial"/>
              </a:rPr>
              <a:t>What are Transmission Networks?</a:t>
            </a:r>
            <a:endParaRPr lang="en-US" sz="2800" dirty="0">
              <a:latin typeface="Arial"/>
              <a:cs typeface="Arial"/>
            </a:endParaRPr>
          </a:p>
        </p:txBody>
      </p:sp>
      <p:pic>
        <p:nvPicPr>
          <p:cNvPr id="6" name="Picture 5">
            <a:extLst>
              <a:ext uri="{FF2B5EF4-FFF2-40B4-BE49-F238E27FC236}">
                <a16:creationId xmlns:a16="http://schemas.microsoft.com/office/drawing/2014/main" id="{931F975D-EB3B-385B-16BB-B9489BB6A3B5}"/>
              </a:ext>
            </a:extLst>
          </p:cNvPr>
          <p:cNvPicPr>
            <a:picLocks noChangeAspect="1"/>
          </p:cNvPicPr>
          <p:nvPr/>
        </p:nvPicPr>
        <p:blipFill>
          <a:blip r:embed="rId3"/>
          <a:stretch>
            <a:fillRect/>
          </a:stretch>
        </p:blipFill>
        <p:spPr>
          <a:xfrm>
            <a:off x="6351852" y="2708560"/>
            <a:ext cx="5840148" cy="1440880"/>
          </a:xfrm>
          <a:prstGeom prst="rect">
            <a:avLst/>
          </a:prstGeom>
        </p:spPr>
      </p:pic>
      <p:sp>
        <p:nvSpPr>
          <p:cNvPr id="7" name="TextBox 6">
            <a:extLst>
              <a:ext uri="{FF2B5EF4-FFF2-40B4-BE49-F238E27FC236}">
                <a16:creationId xmlns:a16="http://schemas.microsoft.com/office/drawing/2014/main" id="{1675B572-C471-B8C1-5380-059EB1B7467F}"/>
              </a:ext>
            </a:extLst>
          </p:cNvPr>
          <p:cNvSpPr txBox="1"/>
          <p:nvPr/>
        </p:nvSpPr>
        <p:spPr>
          <a:xfrm>
            <a:off x="990600" y="2057400"/>
            <a:ext cx="4407569" cy="1138773"/>
          </a:xfrm>
          <a:prstGeom prst="rect">
            <a:avLst/>
          </a:prstGeom>
          <a:noFill/>
        </p:spPr>
        <p:txBody>
          <a:bodyPr wrap="square" rtlCol="0">
            <a:spAutoFit/>
          </a:bodyPr>
          <a:lstStyle/>
          <a:p>
            <a:pPr marL="285750" indent="-285750">
              <a:buFont typeface="Arial" panose="020B0604020202020204" pitchFamily="34" charset="0"/>
              <a:buChar char="•"/>
            </a:pPr>
            <a:r>
              <a:rPr lang="en-US" sz="2400" dirty="0"/>
              <a:t>Connections of all individuals within a group</a:t>
            </a:r>
          </a:p>
          <a:p>
            <a:pPr marL="742950" lvl="1" indent="-285750">
              <a:buFont typeface="Arial" panose="020B0604020202020204" pitchFamily="34" charset="0"/>
              <a:buChar char="•"/>
            </a:pPr>
            <a:endParaRPr lang="en-US" sz="2000" dirty="0"/>
          </a:p>
        </p:txBody>
      </p:sp>
      <p:sp>
        <p:nvSpPr>
          <p:cNvPr id="8" name="TextBox 7">
            <a:extLst>
              <a:ext uri="{FF2B5EF4-FFF2-40B4-BE49-F238E27FC236}">
                <a16:creationId xmlns:a16="http://schemas.microsoft.com/office/drawing/2014/main" id="{DB954AFA-CAC6-8EDD-45B8-D02520689329}"/>
              </a:ext>
            </a:extLst>
          </p:cNvPr>
          <p:cNvSpPr txBox="1"/>
          <p:nvPr/>
        </p:nvSpPr>
        <p:spPr>
          <a:xfrm>
            <a:off x="7620000" y="1524000"/>
            <a:ext cx="3355983" cy="523220"/>
          </a:xfrm>
          <a:prstGeom prst="rect">
            <a:avLst/>
          </a:prstGeom>
          <a:noFill/>
        </p:spPr>
        <p:txBody>
          <a:bodyPr wrap="none" rtlCol="0">
            <a:spAutoFit/>
          </a:bodyPr>
          <a:lstStyle/>
          <a:p>
            <a:r>
              <a:rPr lang="en-US" sz="2800" b="1" dirty="0"/>
              <a:t>Types of Networks</a:t>
            </a:r>
          </a:p>
        </p:txBody>
      </p:sp>
      <p:pic>
        <p:nvPicPr>
          <p:cNvPr id="9" name="Picture 8">
            <a:extLst>
              <a:ext uri="{FF2B5EF4-FFF2-40B4-BE49-F238E27FC236}">
                <a16:creationId xmlns:a16="http://schemas.microsoft.com/office/drawing/2014/main" id="{7A137669-256A-99BC-444A-AED4B96559C2}"/>
              </a:ext>
            </a:extLst>
          </p:cNvPr>
          <p:cNvPicPr>
            <a:picLocks noChangeAspect="1"/>
          </p:cNvPicPr>
          <p:nvPr/>
        </p:nvPicPr>
        <p:blipFill>
          <a:blip r:embed="rId4"/>
          <a:stretch>
            <a:fillRect/>
          </a:stretch>
        </p:blipFill>
        <p:spPr>
          <a:xfrm>
            <a:off x="1524000" y="2971800"/>
            <a:ext cx="3403136" cy="3453778"/>
          </a:xfrm>
          <a:prstGeom prst="rect">
            <a:avLst/>
          </a:prstGeom>
        </p:spPr>
      </p:pic>
      <p:pic>
        <p:nvPicPr>
          <p:cNvPr id="10" name="Picture 9">
            <a:extLst>
              <a:ext uri="{FF2B5EF4-FFF2-40B4-BE49-F238E27FC236}">
                <a16:creationId xmlns:a16="http://schemas.microsoft.com/office/drawing/2014/main" id="{51A30667-5D74-B8F9-60B9-F4A69A7AD7D9}"/>
              </a:ext>
            </a:extLst>
          </p:cNvPr>
          <p:cNvPicPr>
            <a:picLocks noChangeAspect="1"/>
          </p:cNvPicPr>
          <p:nvPr/>
        </p:nvPicPr>
        <p:blipFill>
          <a:blip r:embed="rId5"/>
          <a:stretch>
            <a:fillRect/>
          </a:stretch>
        </p:blipFill>
        <p:spPr>
          <a:xfrm>
            <a:off x="8077200" y="4648200"/>
            <a:ext cx="2248007" cy="1765473"/>
          </a:xfrm>
          <a:prstGeom prst="rect">
            <a:avLst/>
          </a:prstGeom>
        </p:spPr>
      </p:pic>
      <p:sp>
        <p:nvSpPr>
          <p:cNvPr id="11" name="TextBox 10">
            <a:extLst>
              <a:ext uri="{FF2B5EF4-FFF2-40B4-BE49-F238E27FC236}">
                <a16:creationId xmlns:a16="http://schemas.microsoft.com/office/drawing/2014/main" id="{4A63D4E9-212E-3746-9A68-CDFB14E47346}"/>
              </a:ext>
            </a:extLst>
          </p:cNvPr>
          <p:cNvSpPr txBox="1"/>
          <p:nvPr/>
        </p:nvSpPr>
        <p:spPr>
          <a:xfrm>
            <a:off x="7467600" y="2286000"/>
            <a:ext cx="3714478" cy="461665"/>
          </a:xfrm>
          <a:prstGeom prst="rect">
            <a:avLst/>
          </a:prstGeom>
          <a:noFill/>
        </p:spPr>
        <p:txBody>
          <a:bodyPr wrap="none" rtlCol="0">
            <a:spAutoFit/>
          </a:bodyPr>
          <a:lstStyle/>
          <a:p>
            <a:r>
              <a:rPr lang="en-US" sz="2400" dirty="0"/>
              <a:t>Epidemiological Networks</a:t>
            </a:r>
          </a:p>
        </p:txBody>
      </p:sp>
      <p:sp>
        <p:nvSpPr>
          <p:cNvPr id="12" name="TextBox 11">
            <a:extLst>
              <a:ext uri="{FF2B5EF4-FFF2-40B4-BE49-F238E27FC236}">
                <a16:creationId xmlns:a16="http://schemas.microsoft.com/office/drawing/2014/main" id="{DDFFACF1-C231-6034-3F86-7333F795FB06}"/>
              </a:ext>
            </a:extLst>
          </p:cNvPr>
          <p:cNvSpPr txBox="1"/>
          <p:nvPr/>
        </p:nvSpPr>
        <p:spPr>
          <a:xfrm>
            <a:off x="7239000" y="4191000"/>
            <a:ext cx="3898824" cy="461665"/>
          </a:xfrm>
          <a:prstGeom prst="rect">
            <a:avLst/>
          </a:prstGeom>
          <a:noFill/>
        </p:spPr>
        <p:txBody>
          <a:bodyPr wrap="none" rtlCol="0">
            <a:spAutoFit/>
          </a:bodyPr>
          <a:lstStyle/>
          <a:p>
            <a:r>
              <a:rPr lang="en-US" sz="2400" dirty="0"/>
              <a:t>Genetic Distance Networks</a:t>
            </a:r>
          </a:p>
        </p:txBody>
      </p:sp>
      <p:sp>
        <p:nvSpPr>
          <p:cNvPr id="13" name="TextBox 12">
            <a:extLst>
              <a:ext uri="{FF2B5EF4-FFF2-40B4-BE49-F238E27FC236}">
                <a16:creationId xmlns:a16="http://schemas.microsoft.com/office/drawing/2014/main" id="{EA88B559-1A43-276F-71EE-B2999BF42DF8}"/>
              </a:ext>
            </a:extLst>
          </p:cNvPr>
          <p:cNvSpPr txBox="1"/>
          <p:nvPr/>
        </p:nvSpPr>
        <p:spPr>
          <a:xfrm>
            <a:off x="152400" y="6561221"/>
            <a:ext cx="3510844" cy="261610"/>
          </a:xfrm>
          <a:prstGeom prst="rect">
            <a:avLst/>
          </a:prstGeom>
          <a:noFill/>
        </p:spPr>
        <p:txBody>
          <a:bodyPr wrap="square" rtlCol="0">
            <a:spAutoFit/>
          </a:bodyPr>
          <a:lstStyle/>
          <a:p>
            <a:r>
              <a:rPr lang="en-US" sz="1100" dirty="0"/>
              <a:t>https://microbetrace.cdc.gov/MicrobeTrace/</a:t>
            </a:r>
          </a:p>
        </p:txBody>
      </p:sp>
      <p:pic>
        <p:nvPicPr>
          <p:cNvPr id="15" name="Picture 14">
            <a:extLst>
              <a:ext uri="{FF2B5EF4-FFF2-40B4-BE49-F238E27FC236}">
                <a16:creationId xmlns:a16="http://schemas.microsoft.com/office/drawing/2014/main" id="{AC133939-CF79-6A04-EB3B-27D679ABF210}"/>
              </a:ext>
            </a:extLst>
          </p:cNvPr>
          <p:cNvPicPr>
            <a:picLocks noChangeAspect="1"/>
          </p:cNvPicPr>
          <p:nvPr/>
        </p:nvPicPr>
        <p:blipFill>
          <a:blip r:embed="rId6"/>
          <a:stretch>
            <a:fillRect/>
          </a:stretch>
        </p:blipFill>
        <p:spPr>
          <a:xfrm>
            <a:off x="1447800" y="2895600"/>
            <a:ext cx="3829659" cy="3562084"/>
          </a:xfrm>
          <a:prstGeom prst="rect">
            <a:avLst/>
          </a:prstGeom>
        </p:spPr>
      </p:pic>
    </p:spTree>
    <p:extLst>
      <p:ext uri="{BB962C8B-B14F-4D97-AF65-F5344CB8AC3E}">
        <p14:creationId xmlns:p14="http://schemas.microsoft.com/office/powerpoint/2010/main" val="1136921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E31F788-9754-94B4-F183-AADA3300F515}"/>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FontTx/>
              <a:buNone/>
            </a:pPr>
            <a:r>
              <a:rPr lang="en-US" altLang="en-US" sz="3600" b="1" dirty="0">
                <a:solidFill>
                  <a:srgbClr val="2F5597"/>
                </a:solidFill>
              </a:rPr>
              <a:t>Why map transmission networks?</a:t>
            </a:r>
          </a:p>
        </p:txBody>
      </p:sp>
      <p:sp>
        <p:nvSpPr>
          <p:cNvPr id="3" name="TextBox 2">
            <a:extLst>
              <a:ext uri="{FF2B5EF4-FFF2-40B4-BE49-F238E27FC236}">
                <a16:creationId xmlns:a16="http://schemas.microsoft.com/office/drawing/2014/main" id="{BEAFD5C0-F84A-BBD4-2FA2-788A89BB31CF}"/>
              </a:ext>
            </a:extLst>
          </p:cNvPr>
          <p:cNvSpPr txBox="1"/>
          <p:nvPr/>
        </p:nvSpPr>
        <p:spPr>
          <a:xfrm>
            <a:off x="1447800" y="2590800"/>
            <a:ext cx="6277706" cy="461665"/>
          </a:xfrm>
          <a:prstGeom prst="rect">
            <a:avLst/>
          </a:prstGeom>
          <a:noFill/>
        </p:spPr>
        <p:txBody>
          <a:bodyPr wrap="square">
            <a:spAutoFit/>
          </a:bodyPr>
          <a:lstStyle/>
          <a:p>
            <a:pPr marL="285750" indent="-285750">
              <a:buFont typeface="Arial" panose="020B0604020202020204" pitchFamily="34" charset="0"/>
              <a:buChar char="•"/>
            </a:pPr>
            <a:r>
              <a:rPr lang="en-US" sz="2400" dirty="0">
                <a:cs typeface="Arial" panose="020B0604020202020204" pitchFamily="34" charset="0"/>
              </a:rPr>
              <a:t>Enables spatial-temporal analysis of data</a:t>
            </a:r>
          </a:p>
        </p:txBody>
      </p:sp>
      <p:sp>
        <p:nvSpPr>
          <p:cNvPr id="4" name="TextBox 3">
            <a:extLst>
              <a:ext uri="{FF2B5EF4-FFF2-40B4-BE49-F238E27FC236}">
                <a16:creationId xmlns:a16="http://schemas.microsoft.com/office/drawing/2014/main" id="{CA91F4F3-1E85-8091-3950-63166A063BA1}"/>
              </a:ext>
            </a:extLst>
          </p:cNvPr>
          <p:cNvSpPr txBox="1"/>
          <p:nvPr/>
        </p:nvSpPr>
        <p:spPr>
          <a:xfrm>
            <a:off x="1447800" y="1447800"/>
            <a:ext cx="8305800" cy="1200329"/>
          </a:xfrm>
          <a:prstGeom prst="rect">
            <a:avLst/>
          </a:prstGeom>
          <a:noFill/>
        </p:spPr>
        <p:txBody>
          <a:bodyPr wrap="square">
            <a:spAutoFit/>
          </a:bodyPr>
          <a:lstStyle/>
          <a:p>
            <a:pPr marL="285750" indent="-285750">
              <a:buFont typeface="Arial" panose="020B0604020202020204" pitchFamily="34" charset="0"/>
              <a:buChar char="•"/>
            </a:pPr>
            <a:r>
              <a:rPr lang="en-US" sz="2400" dirty="0">
                <a:solidFill>
                  <a:srgbClr val="000000"/>
                </a:solidFill>
                <a:cs typeface="Arial" panose="020B0604020202020204" pitchFamily="34" charset="0"/>
              </a:rPr>
              <a:t>Identifies and characterizes disease incidence and transmission hotspots</a:t>
            </a:r>
          </a:p>
          <a:p>
            <a:endParaRPr lang="en-US" sz="2400" dirty="0">
              <a:cs typeface="Arial" panose="020B0604020202020204" pitchFamily="34" charset="0"/>
            </a:endParaRPr>
          </a:p>
        </p:txBody>
      </p:sp>
      <p:sp>
        <p:nvSpPr>
          <p:cNvPr id="5" name="TextBox 4">
            <a:extLst>
              <a:ext uri="{FF2B5EF4-FFF2-40B4-BE49-F238E27FC236}">
                <a16:creationId xmlns:a16="http://schemas.microsoft.com/office/drawing/2014/main" id="{E2ECBE17-E89B-EC9E-1A36-470687535242}"/>
              </a:ext>
            </a:extLst>
          </p:cNvPr>
          <p:cNvSpPr txBox="1"/>
          <p:nvPr/>
        </p:nvSpPr>
        <p:spPr>
          <a:xfrm>
            <a:off x="1447800" y="3276600"/>
            <a:ext cx="8305800" cy="830997"/>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sz="2400" dirty="0">
                <a:solidFill>
                  <a:srgbClr val="000000"/>
                </a:solidFill>
                <a:latin typeface="Arial"/>
                <a:cs typeface="Arial"/>
              </a:rPr>
              <a:t>Allows fine-grain resolution of transmission dynamics by combining genomic and epidemiologic data</a:t>
            </a:r>
            <a:endParaRPr lang="en-US" sz="2400" dirty="0">
              <a:cs typeface="Arial" panose="020B0604020202020204" pitchFamily="34" charset="0"/>
            </a:endParaRPr>
          </a:p>
        </p:txBody>
      </p:sp>
      <p:sp>
        <p:nvSpPr>
          <p:cNvPr id="6" name="TextBox 5">
            <a:extLst>
              <a:ext uri="{FF2B5EF4-FFF2-40B4-BE49-F238E27FC236}">
                <a16:creationId xmlns:a16="http://schemas.microsoft.com/office/drawing/2014/main" id="{20F140FC-B60F-2F4B-DED4-AE9525F2E821}"/>
              </a:ext>
            </a:extLst>
          </p:cNvPr>
          <p:cNvSpPr txBox="1"/>
          <p:nvPr/>
        </p:nvSpPr>
        <p:spPr>
          <a:xfrm>
            <a:off x="1447800" y="4495800"/>
            <a:ext cx="7467600" cy="461665"/>
          </a:xfrm>
          <a:prstGeom prst="rect">
            <a:avLst/>
          </a:prstGeom>
          <a:noFill/>
        </p:spPr>
        <p:txBody>
          <a:bodyPr wrap="square">
            <a:spAutoFit/>
          </a:bodyPr>
          <a:lstStyle/>
          <a:p>
            <a:pPr marL="285750" indent="-285750">
              <a:buFont typeface="Arial" panose="020B0604020202020204" pitchFamily="34" charset="0"/>
              <a:buChar char="•"/>
            </a:pPr>
            <a:r>
              <a:rPr lang="en-US" sz="2400" dirty="0">
                <a:cs typeface="Arial" panose="020B0604020202020204" pitchFamily="34" charset="0"/>
              </a:rPr>
              <a:t>Informs outbreak-specific intervention efforts</a:t>
            </a:r>
          </a:p>
        </p:txBody>
      </p:sp>
      <p:sp>
        <p:nvSpPr>
          <p:cNvPr id="7" name="TextBox 6">
            <a:extLst>
              <a:ext uri="{FF2B5EF4-FFF2-40B4-BE49-F238E27FC236}">
                <a16:creationId xmlns:a16="http://schemas.microsoft.com/office/drawing/2014/main" id="{29AE79F5-B5D7-DDF5-E20E-3D30CC40AD90}"/>
              </a:ext>
            </a:extLst>
          </p:cNvPr>
          <p:cNvSpPr txBox="1"/>
          <p:nvPr/>
        </p:nvSpPr>
        <p:spPr>
          <a:xfrm>
            <a:off x="1447800" y="5410200"/>
            <a:ext cx="6277706" cy="461665"/>
          </a:xfrm>
          <a:prstGeom prst="rect">
            <a:avLst/>
          </a:prstGeom>
          <a:noFill/>
        </p:spPr>
        <p:txBody>
          <a:bodyPr wrap="square">
            <a:spAutoFit/>
          </a:bodyPr>
          <a:lstStyle/>
          <a:p>
            <a:pPr marL="285750" indent="-285750">
              <a:buFont typeface="Arial" panose="020B0604020202020204" pitchFamily="34" charset="0"/>
              <a:buChar char="•"/>
            </a:pPr>
            <a:r>
              <a:rPr lang="en-US" sz="2400" dirty="0"/>
              <a:t>Informs future prevention strategies</a:t>
            </a:r>
          </a:p>
        </p:txBody>
      </p:sp>
    </p:spTree>
    <p:extLst>
      <p:ext uri="{BB962C8B-B14F-4D97-AF65-F5344CB8AC3E}">
        <p14:creationId xmlns:p14="http://schemas.microsoft.com/office/powerpoint/2010/main" val="2097737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A58B7B-FDA8-3C29-01E0-E5D4C4722DA4}"/>
              </a:ext>
            </a:extLst>
          </p:cNvPr>
          <p:cNvPicPr>
            <a:picLocks noChangeAspect="1"/>
          </p:cNvPicPr>
          <p:nvPr/>
        </p:nvPicPr>
        <p:blipFill>
          <a:blip r:embed="rId3"/>
          <a:stretch>
            <a:fillRect/>
          </a:stretch>
        </p:blipFill>
        <p:spPr>
          <a:xfrm>
            <a:off x="265621" y="2414767"/>
            <a:ext cx="3781965" cy="3653108"/>
          </a:xfrm>
          <a:prstGeom prst="rect">
            <a:avLst/>
          </a:prstGeom>
        </p:spPr>
      </p:pic>
      <p:pic>
        <p:nvPicPr>
          <p:cNvPr id="5" name="Picture 4">
            <a:extLst>
              <a:ext uri="{FF2B5EF4-FFF2-40B4-BE49-F238E27FC236}">
                <a16:creationId xmlns:a16="http://schemas.microsoft.com/office/drawing/2014/main" id="{D12D2F12-95DB-3C5E-FF48-C765B5CEAF78}"/>
              </a:ext>
            </a:extLst>
          </p:cNvPr>
          <p:cNvPicPr>
            <a:picLocks noChangeAspect="1"/>
          </p:cNvPicPr>
          <p:nvPr/>
        </p:nvPicPr>
        <p:blipFill>
          <a:blip r:embed="rId4"/>
          <a:stretch>
            <a:fillRect/>
          </a:stretch>
        </p:blipFill>
        <p:spPr>
          <a:xfrm>
            <a:off x="4139780" y="2243227"/>
            <a:ext cx="4013081" cy="3651131"/>
          </a:xfrm>
          <a:prstGeom prst="rect">
            <a:avLst/>
          </a:prstGeom>
        </p:spPr>
      </p:pic>
      <p:pic>
        <p:nvPicPr>
          <p:cNvPr id="6" name="Picture 5">
            <a:extLst>
              <a:ext uri="{FF2B5EF4-FFF2-40B4-BE49-F238E27FC236}">
                <a16:creationId xmlns:a16="http://schemas.microsoft.com/office/drawing/2014/main" id="{1CFCDFE1-1EF7-4B5B-D3B8-68BCC39EF433}"/>
              </a:ext>
            </a:extLst>
          </p:cNvPr>
          <p:cNvPicPr>
            <a:picLocks noChangeAspect="1"/>
          </p:cNvPicPr>
          <p:nvPr/>
        </p:nvPicPr>
        <p:blipFill>
          <a:blip r:embed="rId5"/>
          <a:stretch>
            <a:fillRect/>
          </a:stretch>
        </p:blipFill>
        <p:spPr>
          <a:xfrm>
            <a:off x="8149357" y="2238196"/>
            <a:ext cx="3743325" cy="3848100"/>
          </a:xfrm>
          <a:prstGeom prst="rect">
            <a:avLst/>
          </a:prstGeom>
        </p:spPr>
      </p:pic>
      <p:sp>
        <p:nvSpPr>
          <p:cNvPr id="8" name="TextBox 7">
            <a:extLst>
              <a:ext uri="{FF2B5EF4-FFF2-40B4-BE49-F238E27FC236}">
                <a16:creationId xmlns:a16="http://schemas.microsoft.com/office/drawing/2014/main" id="{8905C726-482E-B9DB-8E29-B2AF1BB4C092}"/>
              </a:ext>
            </a:extLst>
          </p:cNvPr>
          <p:cNvSpPr txBox="1"/>
          <p:nvPr/>
        </p:nvSpPr>
        <p:spPr>
          <a:xfrm>
            <a:off x="3771471" y="1381663"/>
            <a:ext cx="40124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rial"/>
                <a:cs typeface="Arial"/>
              </a:rPr>
              <a:t>Person-to-Place Links</a:t>
            </a:r>
            <a:endParaRPr lang="en-US" sz="2800" b="1">
              <a:cs typeface="Arial"/>
            </a:endParaRPr>
          </a:p>
        </p:txBody>
      </p:sp>
      <p:sp>
        <p:nvSpPr>
          <p:cNvPr id="11" name="TextBox 10">
            <a:extLst>
              <a:ext uri="{FF2B5EF4-FFF2-40B4-BE49-F238E27FC236}">
                <a16:creationId xmlns:a16="http://schemas.microsoft.com/office/drawing/2014/main" id="{CE4DB908-AC8E-4D5B-481B-908B05B22A1A}"/>
              </a:ext>
            </a:extLst>
          </p:cNvPr>
          <p:cNvSpPr txBox="1"/>
          <p:nvPr/>
        </p:nvSpPr>
        <p:spPr>
          <a:xfrm>
            <a:off x="8731659" y="1381662"/>
            <a:ext cx="267533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rial"/>
                <a:cs typeface="Arial"/>
              </a:rPr>
              <a:t>Genetic Links</a:t>
            </a:r>
            <a:endParaRPr lang="en-US" sz="2800" b="1">
              <a:cs typeface="Arial"/>
            </a:endParaRPr>
          </a:p>
        </p:txBody>
      </p:sp>
      <p:sp>
        <p:nvSpPr>
          <p:cNvPr id="12" name="TextBox 11">
            <a:extLst>
              <a:ext uri="{FF2B5EF4-FFF2-40B4-BE49-F238E27FC236}">
                <a16:creationId xmlns:a16="http://schemas.microsoft.com/office/drawing/2014/main" id="{B34453F3-F690-B13B-ABA9-49BFEE85439D}"/>
              </a:ext>
            </a:extLst>
          </p:cNvPr>
          <p:cNvSpPr txBox="1"/>
          <p:nvPr/>
        </p:nvSpPr>
        <p:spPr>
          <a:xfrm>
            <a:off x="1126037" y="1424795"/>
            <a:ext cx="169767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rial"/>
                <a:cs typeface="Arial"/>
              </a:rPr>
              <a:t>No Links</a:t>
            </a:r>
            <a:endParaRPr lang="en-US" sz="2800" b="1">
              <a:cs typeface="Arial"/>
            </a:endParaRPr>
          </a:p>
        </p:txBody>
      </p:sp>
      <p:sp>
        <p:nvSpPr>
          <p:cNvPr id="14" name="Rectangle 9">
            <a:extLst>
              <a:ext uri="{FF2B5EF4-FFF2-40B4-BE49-F238E27FC236}">
                <a16:creationId xmlns:a16="http://schemas.microsoft.com/office/drawing/2014/main" id="{99D7CCBF-88E8-5355-80D7-CC730D886646}"/>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None/>
            </a:pPr>
            <a:r>
              <a:rPr lang="en-US" altLang="en-US" sz="3600" b="1">
                <a:solidFill>
                  <a:srgbClr val="2F5597"/>
                </a:solidFill>
                <a:latin typeface="Arial"/>
                <a:cs typeface="Arial"/>
              </a:rPr>
              <a:t>Transmission Network Example</a:t>
            </a:r>
          </a:p>
        </p:txBody>
      </p:sp>
      <p:sp>
        <p:nvSpPr>
          <p:cNvPr id="17" name="TextBox 16">
            <a:extLst>
              <a:ext uri="{FF2B5EF4-FFF2-40B4-BE49-F238E27FC236}">
                <a16:creationId xmlns:a16="http://schemas.microsoft.com/office/drawing/2014/main" id="{0F515943-0F8E-97D4-D2F2-B013C9DEC24A}"/>
              </a:ext>
            </a:extLst>
          </p:cNvPr>
          <p:cNvSpPr txBox="1"/>
          <p:nvPr/>
        </p:nvSpPr>
        <p:spPr>
          <a:xfrm>
            <a:off x="181155" y="6521570"/>
            <a:ext cx="403716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cs typeface="Arial"/>
              </a:rPr>
              <a:t>cdc.gov/</a:t>
            </a:r>
            <a:r>
              <a:rPr lang="en-US" sz="1100" err="1">
                <a:latin typeface="Arial"/>
                <a:cs typeface="Arial"/>
              </a:rPr>
              <a:t>amd</a:t>
            </a:r>
            <a:r>
              <a:rPr lang="en-US" sz="1100">
                <a:latin typeface="Arial"/>
                <a:cs typeface="Arial"/>
              </a:rPr>
              <a:t>/pdf/</a:t>
            </a:r>
            <a:r>
              <a:rPr lang="en-US" sz="1100" err="1">
                <a:latin typeface="Arial"/>
                <a:cs typeface="Arial"/>
              </a:rPr>
              <a:t>slidesets</a:t>
            </a:r>
            <a:r>
              <a:rPr lang="en-US" sz="1100">
                <a:latin typeface="Arial"/>
                <a:cs typeface="Arial"/>
              </a:rPr>
              <a:t>/toolkitmodule_3.2-508c.pdf</a:t>
            </a:r>
          </a:p>
        </p:txBody>
      </p:sp>
    </p:spTree>
    <p:extLst>
      <p:ext uri="{BB962C8B-B14F-4D97-AF65-F5344CB8AC3E}">
        <p14:creationId xmlns:p14="http://schemas.microsoft.com/office/powerpoint/2010/main" val="91010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0834C6-FB3D-DF20-C0AC-C356CC4B1059}"/>
              </a:ext>
            </a:extLst>
          </p:cNvPr>
          <p:cNvPicPr>
            <a:picLocks noChangeAspect="1"/>
          </p:cNvPicPr>
          <p:nvPr/>
        </p:nvPicPr>
        <p:blipFill>
          <a:blip r:embed="rId3"/>
          <a:stretch>
            <a:fillRect/>
          </a:stretch>
        </p:blipFill>
        <p:spPr>
          <a:xfrm>
            <a:off x="3200400" y="2057400"/>
            <a:ext cx="7137459" cy="4297751"/>
          </a:xfrm>
          <a:prstGeom prst="rect">
            <a:avLst/>
          </a:prstGeom>
        </p:spPr>
      </p:pic>
      <p:sp>
        <p:nvSpPr>
          <p:cNvPr id="5" name="Rectangle 9">
            <a:extLst>
              <a:ext uri="{FF2B5EF4-FFF2-40B4-BE49-F238E27FC236}">
                <a16:creationId xmlns:a16="http://schemas.microsoft.com/office/drawing/2014/main" id="{7CA74501-BDEB-72A9-2A11-3BF5B9B0762A}"/>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None/>
            </a:pPr>
            <a:r>
              <a:rPr lang="en-US" altLang="en-US" sz="3600" b="1">
                <a:solidFill>
                  <a:srgbClr val="2F5597"/>
                </a:solidFill>
                <a:latin typeface="Arial"/>
                <a:cs typeface="Arial"/>
              </a:rPr>
              <a:t>Transmission Network Example</a:t>
            </a:r>
          </a:p>
        </p:txBody>
      </p:sp>
      <p:sp>
        <p:nvSpPr>
          <p:cNvPr id="7" name="TextBox 6">
            <a:extLst>
              <a:ext uri="{FF2B5EF4-FFF2-40B4-BE49-F238E27FC236}">
                <a16:creationId xmlns:a16="http://schemas.microsoft.com/office/drawing/2014/main" id="{5B833AAA-6FEB-6D75-9B43-9C22434688A3}"/>
              </a:ext>
            </a:extLst>
          </p:cNvPr>
          <p:cNvSpPr txBox="1"/>
          <p:nvPr/>
        </p:nvSpPr>
        <p:spPr>
          <a:xfrm>
            <a:off x="4202791" y="1324154"/>
            <a:ext cx="36098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rial"/>
                <a:cs typeface="Arial"/>
              </a:rPr>
              <a:t>Layered Information</a:t>
            </a:r>
            <a:endParaRPr lang="en-US" sz="2800" b="1">
              <a:cs typeface="Arial"/>
            </a:endParaRPr>
          </a:p>
        </p:txBody>
      </p:sp>
      <p:sp>
        <p:nvSpPr>
          <p:cNvPr id="10" name="TextBox 9">
            <a:extLst>
              <a:ext uri="{FF2B5EF4-FFF2-40B4-BE49-F238E27FC236}">
                <a16:creationId xmlns:a16="http://schemas.microsoft.com/office/drawing/2014/main" id="{AD703FDB-3343-A198-32E6-1253BCFB3438}"/>
              </a:ext>
            </a:extLst>
          </p:cNvPr>
          <p:cNvSpPr txBox="1"/>
          <p:nvPr/>
        </p:nvSpPr>
        <p:spPr>
          <a:xfrm>
            <a:off x="181155" y="6521570"/>
            <a:ext cx="403716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cs typeface="Arial"/>
              </a:rPr>
              <a:t>cdc.gov/</a:t>
            </a:r>
            <a:r>
              <a:rPr lang="en-US" sz="1100" err="1">
                <a:latin typeface="Arial"/>
                <a:cs typeface="Arial"/>
              </a:rPr>
              <a:t>amd</a:t>
            </a:r>
            <a:r>
              <a:rPr lang="en-US" sz="1100">
                <a:latin typeface="Arial"/>
                <a:cs typeface="Arial"/>
              </a:rPr>
              <a:t>/pdf/</a:t>
            </a:r>
            <a:r>
              <a:rPr lang="en-US" sz="1100" err="1">
                <a:latin typeface="Arial"/>
                <a:cs typeface="Arial"/>
              </a:rPr>
              <a:t>slidesets</a:t>
            </a:r>
            <a:r>
              <a:rPr lang="en-US" sz="1100">
                <a:latin typeface="Arial"/>
                <a:cs typeface="Arial"/>
              </a:rPr>
              <a:t>/toolkitmodule_3.2-508c.pdf</a:t>
            </a:r>
          </a:p>
        </p:txBody>
      </p:sp>
    </p:spTree>
    <p:extLst>
      <p:ext uri="{BB962C8B-B14F-4D97-AF65-F5344CB8AC3E}">
        <p14:creationId xmlns:p14="http://schemas.microsoft.com/office/powerpoint/2010/main" val="4104060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4">
            <a:extLst>
              <a:ext uri="{FF2B5EF4-FFF2-40B4-BE49-F238E27FC236}">
                <a16:creationId xmlns:a16="http://schemas.microsoft.com/office/drawing/2014/main" id="{C459FDF5-2596-887B-F8C2-43978B1A258A}"/>
              </a:ext>
            </a:extLst>
          </p:cNvPr>
          <p:cNvSpPr>
            <a:spLocks noChangeArrowheads="1"/>
          </p:cNvSpPr>
          <p:nvPr/>
        </p:nvSpPr>
        <p:spPr bwMode="auto">
          <a:xfrm>
            <a:off x="673100" y="609600"/>
            <a:ext cx="1006475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r>
              <a:rPr lang="en-US" altLang="en-US" b="1" dirty="0">
                <a:solidFill>
                  <a:srgbClr val="2F5597"/>
                </a:solidFill>
              </a:rPr>
              <a:t>What data is needed?			Other data types</a:t>
            </a:r>
          </a:p>
          <a:p>
            <a:pPr>
              <a:lnSpc>
                <a:spcPct val="100000"/>
              </a:lnSpc>
              <a:spcBef>
                <a:spcPct val="0"/>
              </a:spcBef>
              <a:buFontTx/>
              <a:buNone/>
            </a:pPr>
            <a:endParaRPr lang="en-US" altLang="en-US" b="1" dirty="0">
              <a:solidFill>
                <a:srgbClr val="2F5597"/>
              </a:solidFill>
            </a:endParaRPr>
          </a:p>
        </p:txBody>
      </p:sp>
      <p:sp>
        <p:nvSpPr>
          <p:cNvPr id="3" name="TextBox 2">
            <a:extLst>
              <a:ext uri="{FF2B5EF4-FFF2-40B4-BE49-F238E27FC236}">
                <a16:creationId xmlns:a16="http://schemas.microsoft.com/office/drawing/2014/main" id="{DBFC3C8E-2EDE-F2C8-6FD5-C9009022E1D7}"/>
              </a:ext>
            </a:extLst>
          </p:cNvPr>
          <p:cNvSpPr txBox="1"/>
          <p:nvPr/>
        </p:nvSpPr>
        <p:spPr>
          <a:xfrm>
            <a:off x="990600" y="1524000"/>
            <a:ext cx="1518364"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Line list</a:t>
            </a:r>
          </a:p>
        </p:txBody>
      </p:sp>
      <p:sp>
        <p:nvSpPr>
          <p:cNvPr id="4" name="TextBox 3">
            <a:extLst>
              <a:ext uri="{FF2B5EF4-FFF2-40B4-BE49-F238E27FC236}">
                <a16:creationId xmlns:a16="http://schemas.microsoft.com/office/drawing/2014/main" id="{F4F19C8B-8159-CF4F-88D3-C38E05320369}"/>
              </a:ext>
            </a:extLst>
          </p:cNvPr>
          <p:cNvSpPr txBox="1"/>
          <p:nvPr/>
        </p:nvSpPr>
        <p:spPr>
          <a:xfrm>
            <a:off x="990600" y="3886200"/>
            <a:ext cx="2544286"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Contact tracing</a:t>
            </a:r>
          </a:p>
        </p:txBody>
      </p:sp>
      <p:cxnSp>
        <p:nvCxnSpPr>
          <p:cNvPr id="10" name="Straight Connector 9">
            <a:extLst>
              <a:ext uri="{FF2B5EF4-FFF2-40B4-BE49-F238E27FC236}">
                <a16:creationId xmlns:a16="http://schemas.microsoft.com/office/drawing/2014/main" id="{EE742298-6720-7CB5-789A-D2D2026329C9}"/>
              </a:ext>
            </a:extLst>
          </p:cNvPr>
          <p:cNvCxnSpPr/>
          <p:nvPr/>
        </p:nvCxnSpPr>
        <p:spPr>
          <a:xfrm>
            <a:off x="6096000" y="762000"/>
            <a:ext cx="0" cy="541020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6426566-3C13-A20A-EED5-09D8D5F3AD5F}"/>
              </a:ext>
            </a:extLst>
          </p:cNvPr>
          <p:cNvSpPr txBox="1"/>
          <p:nvPr/>
        </p:nvSpPr>
        <p:spPr>
          <a:xfrm>
            <a:off x="6705600" y="1600200"/>
            <a:ext cx="3505200" cy="461665"/>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Newick</a:t>
            </a:r>
            <a:r>
              <a:rPr lang="en-US" sz="2400" dirty="0"/>
              <a:t> files</a:t>
            </a:r>
          </a:p>
        </p:txBody>
      </p:sp>
      <p:sp>
        <p:nvSpPr>
          <p:cNvPr id="12" name="TextBox 11">
            <a:extLst>
              <a:ext uri="{FF2B5EF4-FFF2-40B4-BE49-F238E27FC236}">
                <a16:creationId xmlns:a16="http://schemas.microsoft.com/office/drawing/2014/main" id="{BA38B6B5-A083-DC19-441B-8EA51B59927F}"/>
              </a:ext>
            </a:extLst>
          </p:cNvPr>
          <p:cNvSpPr txBox="1"/>
          <p:nvPr/>
        </p:nvSpPr>
        <p:spPr>
          <a:xfrm>
            <a:off x="6629400" y="3886200"/>
            <a:ext cx="3385863"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Raw sequencing files</a:t>
            </a:r>
          </a:p>
        </p:txBody>
      </p:sp>
      <p:pic>
        <p:nvPicPr>
          <p:cNvPr id="6" name="Picture 5" descr="A screenshot of a computer&#10;&#10;AI-generated content may be incorrect.">
            <a:extLst>
              <a:ext uri="{FF2B5EF4-FFF2-40B4-BE49-F238E27FC236}">
                <a16:creationId xmlns:a16="http://schemas.microsoft.com/office/drawing/2014/main" id="{7EE3862C-5EB6-2EBD-5E25-28714F73B6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0" y="4495800"/>
            <a:ext cx="3429000" cy="1500188"/>
          </a:xfrm>
          <a:prstGeom prst="rect">
            <a:avLst/>
          </a:prstGeom>
        </p:spPr>
      </p:pic>
      <p:pic>
        <p:nvPicPr>
          <p:cNvPr id="8" name="Picture 7" descr="Chart, box and whisker chart&#10;&#10;AI-generated content may be incorrect.">
            <a:extLst>
              <a:ext uri="{FF2B5EF4-FFF2-40B4-BE49-F238E27FC236}">
                <a16:creationId xmlns:a16="http://schemas.microsoft.com/office/drawing/2014/main" id="{1B5176F9-86D8-8D2A-FC6D-5DA629DCF9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0400" y="2057400"/>
            <a:ext cx="2514600" cy="1746984"/>
          </a:xfrm>
          <a:prstGeom prst="rect">
            <a:avLst/>
          </a:prstGeom>
        </p:spPr>
      </p:pic>
      <p:pic>
        <p:nvPicPr>
          <p:cNvPr id="13" name="Picture 12" descr="Table&#10;&#10;AI-generated content may be incorrect.">
            <a:extLst>
              <a:ext uri="{FF2B5EF4-FFF2-40B4-BE49-F238E27FC236}">
                <a16:creationId xmlns:a16="http://schemas.microsoft.com/office/drawing/2014/main" id="{4DCEFA82-FE58-1B38-493B-0209C578B0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400" y="2209800"/>
            <a:ext cx="3753374" cy="933580"/>
          </a:xfrm>
          <a:prstGeom prst="rect">
            <a:avLst/>
          </a:prstGeom>
        </p:spPr>
      </p:pic>
      <p:pic>
        <p:nvPicPr>
          <p:cNvPr id="23" name="Picture 22" descr="Table&#10;&#10;AI-generated content may be incorrect.">
            <a:extLst>
              <a:ext uri="{FF2B5EF4-FFF2-40B4-BE49-F238E27FC236}">
                <a16:creationId xmlns:a16="http://schemas.microsoft.com/office/drawing/2014/main" id="{74D40326-7CA8-1596-AC17-FCE92C8A53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0600" y="4648200"/>
            <a:ext cx="4344006" cy="924054"/>
          </a:xfrm>
          <a:prstGeom prst="rect">
            <a:avLst/>
          </a:prstGeom>
        </p:spPr>
      </p:pic>
      <p:sp>
        <p:nvSpPr>
          <p:cNvPr id="25" name="TextBox 24">
            <a:extLst>
              <a:ext uri="{FF2B5EF4-FFF2-40B4-BE49-F238E27FC236}">
                <a16:creationId xmlns:a16="http://schemas.microsoft.com/office/drawing/2014/main" id="{5D904234-CC60-118E-ED9E-68CEFC2DCF63}"/>
              </a:ext>
            </a:extLst>
          </p:cNvPr>
          <p:cNvSpPr txBox="1"/>
          <p:nvPr/>
        </p:nvSpPr>
        <p:spPr>
          <a:xfrm>
            <a:off x="152400" y="6659379"/>
            <a:ext cx="6282046" cy="215444"/>
          </a:xfrm>
          <a:prstGeom prst="rect">
            <a:avLst/>
          </a:prstGeom>
          <a:noFill/>
        </p:spPr>
        <p:txBody>
          <a:bodyPr wrap="square">
            <a:spAutoFit/>
          </a:bodyPr>
          <a:lstStyle/>
          <a:p>
            <a:r>
              <a:rPr lang="en-US" sz="800" dirty="0"/>
              <a:t>https://www.researchgate.net/figure/A-simple-tree-example-described-in-Newick-format-A02-B0303-C05_fig2_41531382</a:t>
            </a:r>
          </a:p>
        </p:txBody>
      </p:sp>
      <p:sp>
        <p:nvSpPr>
          <p:cNvPr id="27" name="TextBox 26">
            <a:extLst>
              <a:ext uri="{FF2B5EF4-FFF2-40B4-BE49-F238E27FC236}">
                <a16:creationId xmlns:a16="http://schemas.microsoft.com/office/drawing/2014/main" id="{1A6FAC48-9547-B8EC-EBAB-AF5E70C20900}"/>
              </a:ext>
            </a:extLst>
          </p:cNvPr>
          <p:cNvSpPr txBox="1"/>
          <p:nvPr/>
        </p:nvSpPr>
        <p:spPr>
          <a:xfrm>
            <a:off x="152400" y="6477000"/>
            <a:ext cx="6282046" cy="215444"/>
          </a:xfrm>
          <a:prstGeom prst="rect">
            <a:avLst/>
          </a:prstGeom>
          <a:noFill/>
        </p:spPr>
        <p:txBody>
          <a:bodyPr wrap="square">
            <a:spAutoFit/>
          </a:bodyPr>
          <a:lstStyle/>
          <a:p>
            <a:r>
              <a:rPr lang="en-US" sz="800" dirty="0"/>
              <a:t>https://www.ncbi.nlm.nih.gov/nuccore/CP180030.1?report=fasta</a:t>
            </a:r>
          </a:p>
        </p:txBody>
      </p:sp>
    </p:spTree>
    <p:extLst>
      <p:ext uri="{BB962C8B-B14F-4D97-AF65-F5344CB8AC3E}">
        <p14:creationId xmlns:p14="http://schemas.microsoft.com/office/powerpoint/2010/main" val="1768589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58E0D-3BAF-E484-958B-D0C0FD23EDD2}"/>
            </a:ext>
          </a:extLst>
        </p:cNvPr>
        <p:cNvGrpSpPr/>
        <p:nvPr/>
      </p:nvGrpSpPr>
      <p:grpSpPr>
        <a:xfrm>
          <a:off x="0" y="0"/>
          <a:ext cx="0" cy="0"/>
          <a:chOff x="0" y="0"/>
          <a:chExt cx="0" cy="0"/>
        </a:xfrm>
      </p:grpSpPr>
      <p:sp>
        <p:nvSpPr>
          <p:cNvPr id="2" name="Rectangle 9">
            <a:extLst>
              <a:ext uri="{FF2B5EF4-FFF2-40B4-BE49-F238E27FC236}">
                <a16:creationId xmlns:a16="http://schemas.microsoft.com/office/drawing/2014/main" id="{CFDF133D-85B7-6D17-4F45-4065C6398EBA}"/>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None/>
            </a:pPr>
            <a:r>
              <a:rPr lang="en-US" altLang="en-US" sz="3600" b="1" dirty="0">
                <a:solidFill>
                  <a:srgbClr val="2F5597"/>
                </a:solidFill>
                <a:latin typeface="Arial"/>
                <a:cs typeface="Arial"/>
              </a:rPr>
              <a:t>Loading Data to </a:t>
            </a:r>
            <a:r>
              <a:rPr lang="en-US" altLang="en-US" sz="3600" b="1" dirty="0" err="1">
                <a:solidFill>
                  <a:srgbClr val="2F5597"/>
                </a:solidFill>
                <a:latin typeface="Arial"/>
                <a:cs typeface="Arial"/>
              </a:rPr>
              <a:t>MicrobeTrace</a:t>
            </a:r>
            <a:endParaRPr lang="en-US" altLang="en-US" sz="3600" b="1" dirty="0">
              <a:solidFill>
                <a:srgbClr val="2F5597"/>
              </a:solidFill>
              <a:latin typeface="Arial"/>
              <a:cs typeface="Arial"/>
            </a:endParaRPr>
          </a:p>
        </p:txBody>
      </p:sp>
      <p:sp>
        <p:nvSpPr>
          <p:cNvPr id="4" name="TextBox 3">
            <a:extLst>
              <a:ext uri="{FF2B5EF4-FFF2-40B4-BE49-F238E27FC236}">
                <a16:creationId xmlns:a16="http://schemas.microsoft.com/office/drawing/2014/main" id="{C88D0D93-0D66-C462-75F7-13C6E74809D0}"/>
              </a:ext>
            </a:extLst>
          </p:cNvPr>
          <p:cNvSpPr txBox="1"/>
          <p:nvPr/>
        </p:nvSpPr>
        <p:spPr>
          <a:xfrm>
            <a:off x="685800" y="1440748"/>
            <a:ext cx="5638800" cy="4129144"/>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From the </a:t>
            </a:r>
            <a:r>
              <a:rPr lang="en-US" sz="2400" kern="100" dirty="0" err="1">
                <a:effectLst/>
                <a:latin typeface="Calibri" panose="020F0502020204030204" pitchFamily="34" charset="0"/>
                <a:ea typeface="Calibri" panose="020F0502020204030204" pitchFamily="34" charset="0"/>
                <a:cs typeface="Times New Roman" panose="02020603050405020304" pitchFamily="18" charset="0"/>
              </a:rPr>
              <a:t>Github</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Repository </a:t>
            </a:r>
            <a:r>
              <a:rPr lang="en-US" sz="2400" kern="100" dirty="0">
                <a:latin typeface="Calibri" panose="020F0502020204030204" pitchFamily="34" charset="0"/>
                <a:ea typeface="Calibri" panose="020F0502020204030204" pitchFamily="34" charset="0"/>
                <a:cs typeface="Times New Roman" panose="02020603050405020304" pitchFamily="18" charset="0"/>
              </a:rPr>
              <a:t>(https://github.com/DNA-Bioboss/2026_AMD_Academy_MicrobeTrace_S1.git</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download and/or clone the data into a folder on your computer.</a:t>
            </a:r>
          </a:p>
          <a:p>
            <a:pPr marL="342900" marR="0" lvl="0" indent="-342900">
              <a:lnSpc>
                <a:spcPct val="107000"/>
              </a:lnSpc>
              <a:spcBef>
                <a:spcPts val="0"/>
              </a:spcBef>
              <a:spcAft>
                <a:spcPts val="800"/>
              </a:spcAft>
              <a:buFont typeface="+mj-lt"/>
              <a:buAutoNum type="arabicPeriod"/>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Go to </a:t>
            </a:r>
            <a:r>
              <a:rPr lang="en-US" sz="2400" kern="100" dirty="0">
                <a:effectLst/>
                <a:latin typeface="Calibri" panose="020F0502020204030204" pitchFamily="34" charset="0"/>
                <a:ea typeface="Calibri" panose="020F0502020204030204" pitchFamily="34" charset="0"/>
                <a:cs typeface="Times New Roman" panose="02020603050405020304" pitchFamily="18" charset="0"/>
                <a:hlinkClick r:id="rId3"/>
              </a:rPr>
              <a:t>https://microbetrace.cdc.gov/MicrobeTrace/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Select the </a:t>
            </a:r>
            <a:r>
              <a:rPr lang="en-US" sz="2400" kern="100" dirty="0">
                <a:latin typeface="Calibri" panose="020F0502020204030204" pitchFamily="34" charset="0"/>
                <a:ea typeface="Calibri" panose="020F0502020204030204" pitchFamily="34" charset="0"/>
                <a:cs typeface="Times New Roman" panose="02020603050405020304" pitchFamily="18" charset="0"/>
              </a:rPr>
              <a:t>recently downloaded files, then drag and drop to </a:t>
            </a:r>
            <a:r>
              <a:rPr lang="en-US" sz="2400" b="1" kern="100" dirty="0">
                <a:latin typeface="Calibri" panose="020F0502020204030204" pitchFamily="34" charset="0"/>
                <a:ea typeface="Calibri" panose="020F0502020204030204" pitchFamily="34" charset="0"/>
                <a:cs typeface="Times New Roman" panose="02020603050405020304" pitchFamily="18" charset="0"/>
              </a:rPr>
              <a:t>load the files</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45D4B2B-7728-ACFD-F7A1-DD44C4F0B453}"/>
              </a:ext>
            </a:extLst>
          </p:cNvPr>
          <p:cNvPicPr>
            <a:picLocks noChangeAspect="1"/>
          </p:cNvPicPr>
          <p:nvPr/>
        </p:nvPicPr>
        <p:blipFill>
          <a:blip r:embed="rId4"/>
          <a:stretch>
            <a:fillRect/>
          </a:stretch>
        </p:blipFill>
        <p:spPr>
          <a:xfrm>
            <a:off x="6705600" y="2209800"/>
            <a:ext cx="5072488" cy="2265866"/>
          </a:xfrm>
          <a:prstGeom prst="rect">
            <a:avLst/>
          </a:prstGeom>
        </p:spPr>
      </p:pic>
      <p:sp>
        <p:nvSpPr>
          <p:cNvPr id="8" name="TextBox 7">
            <a:extLst>
              <a:ext uri="{FF2B5EF4-FFF2-40B4-BE49-F238E27FC236}">
                <a16:creationId xmlns:a16="http://schemas.microsoft.com/office/drawing/2014/main" id="{34880F49-B715-B2B3-274F-2F7844A74D2D}"/>
              </a:ext>
            </a:extLst>
          </p:cNvPr>
          <p:cNvSpPr txBox="1"/>
          <p:nvPr/>
        </p:nvSpPr>
        <p:spPr>
          <a:xfrm>
            <a:off x="228600" y="6488668"/>
            <a:ext cx="6280150" cy="369332"/>
          </a:xfrm>
          <a:prstGeom prst="rect">
            <a:avLst/>
          </a:prstGeom>
          <a:noFill/>
        </p:spPr>
        <p:txBody>
          <a:bodyPr wrap="square">
            <a:spAutoFit/>
          </a:bodyPr>
          <a:lstStyle/>
          <a:p>
            <a:r>
              <a:rPr lang="en-US" dirty="0"/>
              <a:t>https://microbetrace.cdc.gov/MicrobeTrace/</a:t>
            </a:r>
          </a:p>
        </p:txBody>
      </p:sp>
    </p:spTree>
    <p:extLst>
      <p:ext uri="{BB962C8B-B14F-4D97-AF65-F5344CB8AC3E}">
        <p14:creationId xmlns:p14="http://schemas.microsoft.com/office/powerpoint/2010/main" val="129791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7A2A9-1FA2-66EF-513C-B86497E64EBC}"/>
            </a:ext>
          </a:extLst>
        </p:cNvPr>
        <p:cNvGrpSpPr/>
        <p:nvPr/>
      </p:nvGrpSpPr>
      <p:grpSpPr>
        <a:xfrm>
          <a:off x="0" y="0"/>
          <a:ext cx="0" cy="0"/>
          <a:chOff x="0" y="0"/>
          <a:chExt cx="0" cy="0"/>
        </a:xfrm>
      </p:grpSpPr>
      <p:sp>
        <p:nvSpPr>
          <p:cNvPr id="4" name="Rectangle 9">
            <a:extLst>
              <a:ext uri="{FF2B5EF4-FFF2-40B4-BE49-F238E27FC236}">
                <a16:creationId xmlns:a16="http://schemas.microsoft.com/office/drawing/2014/main" id="{13BA1889-8862-D028-6963-ADF697CB0C11}"/>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None/>
            </a:pPr>
            <a:r>
              <a:rPr lang="en-US" altLang="en-US" sz="3600" b="1" dirty="0">
                <a:solidFill>
                  <a:srgbClr val="2F5597"/>
                </a:solidFill>
                <a:latin typeface="Arial"/>
                <a:cs typeface="Arial"/>
              </a:rPr>
              <a:t>Loading Data to </a:t>
            </a:r>
            <a:r>
              <a:rPr lang="en-US" altLang="en-US" sz="3600" b="1" dirty="0" err="1">
                <a:solidFill>
                  <a:srgbClr val="2F5597"/>
                </a:solidFill>
                <a:latin typeface="Arial"/>
                <a:cs typeface="Arial"/>
              </a:rPr>
              <a:t>MicrobeTrace</a:t>
            </a:r>
            <a:r>
              <a:rPr lang="en-US" altLang="en-US" sz="3600" b="1" dirty="0">
                <a:solidFill>
                  <a:srgbClr val="2F5597"/>
                </a:solidFill>
                <a:latin typeface="Arial"/>
                <a:cs typeface="Arial"/>
              </a:rPr>
              <a:t>…continued</a:t>
            </a:r>
          </a:p>
        </p:txBody>
      </p:sp>
      <p:sp>
        <p:nvSpPr>
          <p:cNvPr id="5" name="TextBox 4">
            <a:extLst>
              <a:ext uri="{FF2B5EF4-FFF2-40B4-BE49-F238E27FC236}">
                <a16:creationId xmlns:a16="http://schemas.microsoft.com/office/drawing/2014/main" id="{9B50BE58-EC54-89E4-2A3E-CD233CE19CDD}"/>
              </a:ext>
            </a:extLst>
          </p:cNvPr>
          <p:cNvSpPr txBox="1"/>
          <p:nvPr/>
        </p:nvSpPr>
        <p:spPr>
          <a:xfrm>
            <a:off x="7239000" y="1828800"/>
            <a:ext cx="4277133"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a:t>Select the correct data type</a:t>
            </a:r>
          </a:p>
        </p:txBody>
      </p:sp>
      <p:sp>
        <p:nvSpPr>
          <p:cNvPr id="6" name="TextBox 5">
            <a:extLst>
              <a:ext uri="{FF2B5EF4-FFF2-40B4-BE49-F238E27FC236}">
                <a16:creationId xmlns:a16="http://schemas.microsoft.com/office/drawing/2014/main" id="{146911A5-AEE8-CF76-1123-E9E9D0C7CDFB}"/>
              </a:ext>
            </a:extLst>
          </p:cNvPr>
          <p:cNvSpPr txBox="1"/>
          <p:nvPr/>
        </p:nvSpPr>
        <p:spPr>
          <a:xfrm>
            <a:off x="7239000" y="2590800"/>
            <a:ext cx="4089581" cy="1200329"/>
          </a:xfrm>
          <a:prstGeom prst="rect">
            <a:avLst/>
          </a:prstGeom>
          <a:noFill/>
        </p:spPr>
        <p:txBody>
          <a:bodyPr wrap="none" rtlCol="0">
            <a:spAutoFit/>
          </a:bodyPr>
          <a:lstStyle/>
          <a:p>
            <a:pPr marL="342900" indent="-342900">
              <a:buFont typeface="Arial" panose="020B0604020202020204" pitchFamily="34" charset="0"/>
              <a:buChar char="•"/>
            </a:pPr>
            <a:r>
              <a:rPr lang="en-US" sz="2400" dirty="0"/>
              <a:t>Select the column that </a:t>
            </a:r>
            <a:br>
              <a:rPr lang="en-US" sz="2400" dirty="0"/>
            </a:br>
            <a:r>
              <a:rPr lang="en-US" sz="2400" dirty="0"/>
              <a:t>represents the ID for each</a:t>
            </a:r>
            <a:br>
              <a:rPr lang="en-US" sz="2400" dirty="0"/>
            </a:br>
            <a:r>
              <a:rPr lang="en-US" sz="2400" dirty="0"/>
              <a:t>dataset</a:t>
            </a:r>
          </a:p>
        </p:txBody>
      </p:sp>
      <p:sp>
        <p:nvSpPr>
          <p:cNvPr id="2" name="TextBox 1">
            <a:extLst>
              <a:ext uri="{FF2B5EF4-FFF2-40B4-BE49-F238E27FC236}">
                <a16:creationId xmlns:a16="http://schemas.microsoft.com/office/drawing/2014/main" id="{FD68A88A-CDA6-4AF7-0D18-4EE1CA6D4217}"/>
              </a:ext>
            </a:extLst>
          </p:cNvPr>
          <p:cNvSpPr txBox="1"/>
          <p:nvPr/>
        </p:nvSpPr>
        <p:spPr>
          <a:xfrm>
            <a:off x="7315200" y="4191000"/>
            <a:ext cx="2501006" cy="461665"/>
          </a:xfrm>
          <a:prstGeom prst="rect">
            <a:avLst/>
          </a:prstGeom>
          <a:noFill/>
        </p:spPr>
        <p:txBody>
          <a:bodyPr wrap="none" rtlCol="0">
            <a:spAutoFit/>
          </a:bodyPr>
          <a:lstStyle/>
          <a:p>
            <a:pPr marL="342900" indent="-342900">
              <a:buFont typeface="Arial" panose="020B0604020202020204" pitchFamily="34" charset="0"/>
              <a:buChar char="•"/>
            </a:pPr>
            <a:r>
              <a:rPr lang="en-US" sz="2400" dirty="0"/>
              <a:t>Click “Launch”</a:t>
            </a:r>
          </a:p>
        </p:txBody>
      </p:sp>
      <p:pic>
        <p:nvPicPr>
          <p:cNvPr id="10" name="Picture 9" descr="Graphical user interface, text, application, email&#10;&#10;AI-generated content may be incorrect.">
            <a:extLst>
              <a:ext uri="{FF2B5EF4-FFF2-40B4-BE49-F238E27FC236}">
                <a16:creationId xmlns:a16="http://schemas.microsoft.com/office/drawing/2014/main" id="{B13E2D54-B472-AFC7-A1A7-24DA68DC8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524000"/>
            <a:ext cx="5940603" cy="4465575"/>
          </a:xfrm>
          <a:prstGeom prst="rect">
            <a:avLst/>
          </a:prstGeom>
        </p:spPr>
      </p:pic>
    </p:spTree>
    <p:extLst>
      <p:ext uri="{BB962C8B-B14F-4D97-AF65-F5344CB8AC3E}">
        <p14:creationId xmlns:p14="http://schemas.microsoft.com/office/powerpoint/2010/main" val="3772777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D58B0-4B29-5AE6-DC62-E67103A20319}"/>
            </a:ext>
          </a:extLst>
        </p:cNvPr>
        <p:cNvGrpSpPr/>
        <p:nvPr/>
      </p:nvGrpSpPr>
      <p:grpSpPr>
        <a:xfrm>
          <a:off x="0" y="0"/>
          <a:ext cx="0" cy="0"/>
          <a:chOff x="0" y="0"/>
          <a:chExt cx="0" cy="0"/>
        </a:xfrm>
      </p:grpSpPr>
      <p:sp>
        <p:nvSpPr>
          <p:cNvPr id="2" name="Rectangle 9">
            <a:extLst>
              <a:ext uri="{FF2B5EF4-FFF2-40B4-BE49-F238E27FC236}">
                <a16:creationId xmlns:a16="http://schemas.microsoft.com/office/drawing/2014/main" id="{ABD5E45F-0CF4-49D5-04C2-12F5887BFB7A}"/>
              </a:ext>
            </a:extLst>
          </p:cNvPr>
          <p:cNvSpPr>
            <a:spLocks noChangeArrowheads="1"/>
          </p:cNvSpPr>
          <p:nvPr/>
        </p:nvSpPr>
        <p:spPr bwMode="auto">
          <a:xfrm>
            <a:off x="414866" y="423333"/>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None/>
            </a:pPr>
            <a:r>
              <a:rPr lang="en-US" altLang="en-US" sz="3600" b="1" dirty="0">
                <a:solidFill>
                  <a:srgbClr val="2F5597"/>
                </a:solidFill>
                <a:latin typeface="Arial"/>
                <a:cs typeface="Arial"/>
              </a:rPr>
              <a:t>Customizing Networks</a:t>
            </a:r>
          </a:p>
        </p:txBody>
      </p:sp>
      <p:sp>
        <p:nvSpPr>
          <p:cNvPr id="11" name="TextBox 10">
            <a:extLst>
              <a:ext uri="{FF2B5EF4-FFF2-40B4-BE49-F238E27FC236}">
                <a16:creationId xmlns:a16="http://schemas.microsoft.com/office/drawing/2014/main" id="{004BD236-FDC8-48AB-EF5E-638DC6ABB23E}"/>
              </a:ext>
            </a:extLst>
          </p:cNvPr>
          <p:cNvSpPr txBox="1"/>
          <p:nvPr/>
        </p:nvSpPr>
        <p:spPr>
          <a:xfrm>
            <a:off x="762000" y="1524000"/>
            <a:ext cx="5729454"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Nodes and links can be customized in </a:t>
            </a:r>
            <a:br>
              <a:rPr lang="en-US" sz="2400" dirty="0"/>
            </a:br>
            <a:r>
              <a:rPr lang="en-US" sz="2400" dirty="0"/>
              <a:t>the Toggle Network Setting Menu </a:t>
            </a:r>
            <a:br>
              <a:rPr lang="en-US" sz="2400" dirty="0"/>
            </a:br>
            <a:r>
              <a:rPr lang="en-US" sz="2400" dirty="0"/>
              <a:t>accessed clicking the “cog” icon </a:t>
            </a:r>
          </a:p>
        </p:txBody>
      </p:sp>
      <p:sp>
        <p:nvSpPr>
          <p:cNvPr id="13" name="TextBox 12">
            <a:extLst>
              <a:ext uri="{FF2B5EF4-FFF2-40B4-BE49-F238E27FC236}">
                <a16:creationId xmlns:a16="http://schemas.microsoft.com/office/drawing/2014/main" id="{E1E1DAAA-2698-7EB9-EBFA-E01B8F7E7F06}"/>
              </a:ext>
            </a:extLst>
          </p:cNvPr>
          <p:cNvSpPr txBox="1"/>
          <p:nvPr/>
        </p:nvSpPr>
        <p:spPr>
          <a:xfrm>
            <a:off x="1295400" y="4495800"/>
            <a:ext cx="1364476"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Colors</a:t>
            </a:r>
          </a:p>
        </p:txBody>
      </p:sp>
      <p:sp>
        <p:nvSpPr>
          <p:cNvPr id="14" name="TextBox 13">
            <a:extLst>
              <a:ext uri="{FF2B5EF4-FFF2-40B4-BE49-F238E27FC236}">
                <a16:creationId xmlns:a16="http://schemas.microsoft.com/office/drawing/2014/main" id="{95CBFB67-CF52-4A06-9258-C6D78C63DA21}"/>
              </a:ext>
            </a:extLst>
          </p:cNvPr>
          <p:cNvSpPr txBox="1"/>
          <p:nvPr/>
        </p:nvSpPr>
        <p:spPr>
          <a:xfrm>
            <a:off x="1295400" y="3733800"/>
            <a:ext cx="2956259"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Shapes and Sizes</a:t>
            </a:r>
          </a:p>
        </p:txBody>
      </p:sp>
      <p:sp>
        <p:nvSpPr>
          <p:cNvPr id="15" name="TextBox 14">
            <a:extLst>
              <a:ext uri="{FF2B5EF4-FFF2-40B4-BE49-F238E27FC236}">
                <a16:creationId xmlns:a16="http://schemas.microsoft.com/office/drawing/2014/main" id="{C3C7758F-13A1-CAE4-F8E9-DDDDF3A16B3B}"/>
              </a:ext>
            </a:extLst>
          </p:cNvPr>
          <p:cNvSpPr txBox="1"/>
          <p:nvPr/>
        </p:nvSpPr>
        <p:spPr>
          <a:xfrm>
            <a:off x="1295400" y="3048000"/>
            <a:ext cx="3105722"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Labels and Tooltips</a:t>
            </a:r>
          </a:p>
        </p:txBody>
      </p:sp>
      <p:pic>
        <p:nvPicPr>
          <p:cNvPr id="4" name="Picture 3" descr="Graphical user interface, text, application, email&#10;&#10;AI-generated content may be incorrect.">
            <a:extLst>
              <a:ext uri="{FF2B5EF4-FFF2-40B4-BE49-F238E27FC236}">
                <a16:creationId xmlns:a16="http://schemas.microsoft.com/office/drawing/2014/main" id="{0569425B-8715-9638-BCF9-55FB3BEB5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7600" y="1981200"/>
            <a:ext cx="3459595" cy="3032116"/>
          </a:xfrm>
          <a:prstGeom prst="rect">
            <a:avLst/>
          </a:prstGeom>
        </p:spPr>
      </p:pic>
    </p:spTree>
    <p:extLst>
      <p:ext uri="{BB962C8B-B14F-4D97-AF65-F5344CB8AC3E}">
        <p14:creationId xmlns:p14="http://schemas.microsoft.com/office/powerpoint/2010/main" val="3304790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121C7CC3-EF53-0CCF-2EBD-2B37EA2CC127}"/>
              </a:ext>
            </a:extLst>
          </p:cNvPr>
          <p:cNvSpPr>
            <a:spLocks noChangeArrowheads="1"/>
          </p:cNvSpPr>
          <p:nvPr/>
        </p:nvSpPr>
        <p:spPr bwMode="auto">
          <a:xfrm>
            <a:off x="381000" y="2667000"/>
            <a:ext cx="11371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None/>
            </a:pPr>
            <a:r>
              <a:rPr lang="en-US" altLang="en-US" sz="3600" b="1" dirty="0">
                <a:solidFill>
                  <a:srgbClr val="2F5597"/>
                </a:solidFill>
                <a:latin typeface="Arial"/>
                <a:cs typeface="Arial"/>
              </a:rPr>
              <a:t>Demo</a:t>
            </a:r>
          </a:p>
        </p:txBody>
      </p:sp>
    </p:spTree>
    <p:extLst>
      <p:ext uri="{BB962C8B-B14F-4D97-AF65-F5344CB8AC3E}">
        <p14:creationId xmlns:p14="http://schemas.microsoft.com/office/powerpoint/2010/main" val="401337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473F-26A2-F5E2-18DD-601BD9EA42C7}"/>
            </a:ext>
          </a:extLst>
        </p:cNvPr>
        <p:cNvGrpSpPr/>
        <p:nvPr/>
      </p:nvGrpSpPr>
      <p:grpSpPr>
        <a:xfrm>
          <a:off x="0" y="0"/>
          <a:ext cx="0" cy="0"/>
          <a:chOff x="0" y="0"/>
          <a:chExt cx="0" cy="0"/>
        </a:xfrm>
      </p:grpSpPr>
      <p:sp>
        <p:nvSpPr>
          <p:cNvPr id="16386" name="Rectangle 9">
            <a:extLst>
              <a:ext uri="{FF2B5EF4-FFF2-40B4-BE49-F238E27FC236}">
                <a16:creationId xmlns:a16="http://schemas.microsoft.com/office/drawing/2014/main" id="{4171A084-B7B3-BCF2-A2C7-F86790AA3EEE}"/>
              </a:ext>
            </a:extLst>
          </p:cNvPr>
          <p:cNvSpPr>
            <a:spLocks noChangeArrowheads="1"/>
          </p:cNvSpPr>
          <p:nvPr/>
        </p:nvSpPr>
        <p:spPr bwMode="auto">
          <a:xfrm>
            <a:off x="4724400" y="1676400"/>
            <a:ext cx="1100772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r>
              <a:rPr lang="en-US" altLang="en-US" sz="3200" b="1" dirty="0">
                <a:solidFill>
                  <a:srgbClr val="2F5597"/>
                </a:solidFill>
              </a:rPr>
              <a:t>Mayra Trujillo, MS</a:t>
            </a:r>
          </a:p>
          <a:p>
            <a:pPr>
              <a:lnSpc>
                <a:spcPct val="100000"/>
              </a:lnSpc>
              <a:spcBef>
                <a:spcPct val="0"/>
              </a:spcBef>
              <a:buFontTx/>
              <a:buNone/>
            </a:pPr>
            <a:r>
              <a:rPr lang="en-US" altLang="en-US" sz="2000" b="1" dirty="0"/>
              <a:t>Molecular Epidemiologist</a:t>
            </a:r>
          </a:p>
          <a:p>
            <a:pPr>
              <a:lnSpc>
                <a:spcPct val="100000"/>
              </a:lnSpc>
              <a:spcBef>
                <a:spcPct val="0"/>
              </a:spcBef>
              <a:buFontTx/>
              <a:buNone/>
            </a:pPr>
            <a:endParaRPr lang="en-US" altLang="en-US" sz="2000" b="1" dirty="0"/>
          </a:p>
          <a:p>
            <a:pPr>
              <a:lnSpc>
                <a:spcPct val="100000"/>
              </a:lnSpc>
              <a:spcBef>
                <a:spcPct val="0"/>
              </a:spcBef>
              <a:buFontTx/>
              <a:buNone/>
            </a:pPr>
            <a:r>
              <a:rPr lang="en-US" sz="2400" dirty="0"/>
              <a:t>Informatics and Molecular Epidemiology Program</a:t>
            </a:r>
            <a:endParaRPr lang="en-US" altLang="en-US" sz="2400" b="1" dirty="0"/>
          </a:p>
          <a:p>
            <a:pPr>
              <a:lnSpc>
                <a:spcPct val="100000"/>
              </a:lnSpc>
              <a:spcBef>
                <a:spcPct val="0"/>
              </a:spcBef>
              <a:buFontTx/>
              <a:buNone/>
            </a:pPr>
            <a:r>
              <a:rPr lang="en-US" altLang="en-US" sz="2400" dirty="0"/>
              <a:t>Kansas Department of Health and Environment</a:t>
            </a:r>
          </a:p>
          <a:p>
            <a:pPr>
              <a:lnSpc>
                <a:spcPct val="100000"/>
              </a:lnSpc>
              <a:spcBef>
                <a:spcPct val="0"/>
              </a:spcBef>
              <a:buFontTx/>
              <a:buNone/>
            </a:pPr>
            <a:endParaRPr lang="en-US" altLang="en-US" sz="2400" dirty="0"/>
          </a:p>
          <a:p>
            <a:pPr>
              <a:lnSpc>
                <a:spcPct val="100000"/>
              </a:lnSpc>
              <a:spcBef>
                <a:spcPct val="0"/>
              </a:spcBef>
              <a:buFontTx/>
              <a:buNone/>
            </a:pPr>
            <a:r>
              <a:rPr lang="en-US" altLang="en-US" sz="2400" dirty="0"/>
              <a:t>785-600-8674</a:t>
            </a:r>
          </a:p>
          <a:p>
            <a:pPr>
              <a:lnSpc>
                <a:spcPct val="100000"/>
              </a:lnSpc>
              <a:spcBef>
                <a:spcPct val="0"/>
              </a:spcBef>
              <a:buFontTx/>
              <a:buNone/>
            </a:pPr>
            <a:r>
              <a:rPr lang="en-US" altLang="en-US" sz="2400" dirty="0"/>
              <a:t>mayra.trujillo@ks.gov</a:t>
            </a:r>
          </a:p>
        </p:txBody>
      </p:sp>
      <p:pic>
        <p:nvPicPr>
          <p:cNvPr id="3" name="Picture 2">
            <a:extLst>
              <a:ext uri="{FF2B5EF4-FFF2-40B4-BE49-F238E27FC236}">
                <a16:creationId xmlns:a16="http://schemas.microsoft.com/office/drawing/2014/main" id="{81234F37-C766-4CAD-0AA5-A07018D9350B}"/>
              </a:ext>
            </a:extLst>
          </p:cNvPr>
          <p:cNvPicPr>
            <a:picLocks noChangeAspect="1"/>
          </p:cNvPicPr>
          <p:nvPr/>
        </p:nvPicPr>
        <p:blipFill>
          <a:blip r:embed="rId3"/>
          <a:stretch>
            <a:fillRect/>
          </a:stretch>
        </p:blipFill>
        <p:spPr>
          <a:xfrm>
            <a:off x="1219200" y="1453413"/>
            <a:ext cx="3429000" cy="3880587"/>
          </a:xfrm>
          <a:prstGeom prst="rect">
            <a:avLst/>
          </a:prstGeom>
          <a:effectLst>
            <a:outerShdw blurRad="50800" dist="50800" dir="5400000" algn="ctr" rotWithShape="0">
              <a:srgbClr val="000000">
                <a:alpha val="65000"/>
              </a:srgbClr>
            </a:outerShdw>
          </a:effectLst>
        </p:spPr>
      </p:pic>
    </p:spTree>
    <p:extLst>
      <p:ext uri="{BB962C8B-B14F-4D97-AF65-F5344CB8AC3E}">
        <p14:creationId xmlns:p14="http://schemas.microsoft.com/office/powerpoint/2010/main" val="357656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7CF3A8-B0FC-CCBD-C37C-97D5C8A141C4}"/>
              </a:ext>
            </a:extLst>
          </p:cNvPr>
          <p:cNvPicPr>
            <a:picLocks noChangeAspect="1" noChangeArrowheads="1"/>
          </p:cNvPicPr>
          <p:nvPr/>
        </p:nvPicPr>
        <p:blipFill>
          <a:blip r:embed="rId2"/>
          <a:srcRect/>
          <a:stretch>
            <a:fillRect/>
          </a:stretch>
        </p:blipFill>
        <p:spPr bwMode="auto">
          <a:xfrm>
            <a:off x="2828925" y="1600200"/>
            <a:ext cx="6534150" cy="4079875"/>
          </a:xfrm>
          <a:prstGeom prst="rect">
            <a:avLst/>
          </a:prstGeom>
          <a:ln>
            <a:noFill/>
          </a:ln>
          <a:effectLst>
            <a:outerShdw blurRad="292100" dist="139700" dir="2700000" algn="tl" rotWithShape="0">
              <a:srgbClr val="333333">
                <a:alpha val="65000"/>
              </a:srgbClr>
            </a:outerShdw>
          </a:effectLst>
        </p:spPr>
      </p:pic>
      <p:sp>
        <p:nvSpPr>
          <p:cNvPr id="21507" name="Rectangle 9">
            <a:extLst>
              <a:ext uri="{FF2B5EF4-FFF2-40B4-BE49-F238E27FC236}">
                <a16:creationId xmlns:a16="http://schemas.microsoft.com/office/drawing/2014/main" id="{F0268CDB-84D3-8591-66F6-B0C733465008}"/>
              </a:ext>
            </a:extLst>
          </p:cNvPr>
          <p:cNvSpPr>
            <a:spLocks noChangeArrowheads="1"/>
          </p:cNvSpPr>
          <p:nvPr/>
        </p:nvSpPr>
        <p:spPr bwMode="auto">
          <a:xfrm>
            <a:off x="592138" y="838200"/>
            <a:ext cx="11007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a:lnSpc>
                <a:spcPct val="100000"/>
              </a:lnSpc>
              <a:spcBef>
                <a:spcPct val="0"/>
              </a:spcBef>
              <a:buFontTx/>
              <a:buNone/>
            </a:pPr>
            <a:r>
              <a:rPr lang="en-US" altLang="en-US" sz="3200" b="1">
                <a:solidFill>
                  <a:srgbClr val="2F5597"/>
                </a:solidFill>
              </a:rPr>
              <a:t>Thank You/Questions</a:t>
            </a:r>
          </a:p>
        </p:txBody>
      </p:sp>
    </p:spTree>
  </p:cSld>
  <p:clrMapOvr>
    <a:masterClrMapping/>
  </p:clrMapOvr>
</p:sld>
</file>

<file path=ppt/theme/theme1.xml><?xml version="1.0" encoding="utf-8"?>
<a:theme xmlns:a="http://schemas.openxmlformats.org/drawingml/2006/main" name="General KanCare PPT template 08-2018">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97A721296BD1B4A927983E64A20BFDC" ma:contentTypeVersion="12" ma:contentTypeDescription="Create a new document." ma:contentTypeScope="" ma:versionID="c345d08531691934bd9ab6dcfa1e8fc4">
  <xsd:schema xmlns:xsd="http://www.w3.org/2001/XMLSchema" xmlns:xs="http://www.w3.org/2001/XMLSchema" xmlns:p="http://schemas.microsoft.com/office/2006/metadata/properties" xmlns:ns3="ae1def31-3ee8-4ff9-b911-8e64c5702423" xmlns:ns4="21130a6c-2326-45bd-953c-df47350dcd7a" targetNamespace="http://schemas.microsoft.com/office/2006/metadata/properties" ma:root="true" ma:fieldsID="56ec2c8e80faf0a859f630392dd16629" ns3:_="" ns4:_="">
    <xsd:import namespace="ae1def31-3ee8-4ff9-b911-8e64c5702423"/>
    <xsd:import namespace="21130a6c-2326-45bd-953c-df47350dcd7a"/>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EventHashCode" minOccurs="0"/>
                <xsd:element ref="ns4:MediaServiceGenerationTime"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1def31-3ee8-4ff9-b911-8e64c570242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130a6c-2326-45bd-953c-df47350dcd7a"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6FAF67B-D77F-4361-B831-ABADA843413A}">
  <ds:schemaRefs>
    <ds:schemaRef ds:uri="http://schemas.microsoft.com/sharepoint/v3/contenttype/forms"/>
  </ds:schemaRefs>
</ds:datastoreItem>
</file>

<file path=customXml/itemProps2.xml><?xml version="1.0" encoding="utf-8"?>
<ds:datastoreItem xmlns:ds="http://schemas.openxmlformats.org/officeDocument/2006/customXml" ds:itemID="{146ED1C2-99E8-44BF-BCB7-BD2D5E21E8CC}">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21130a6c-2326-45bd-953c-df47350dcd7a"/>
    <ds:schemaRef ds:uri="http://purl.org/dc/elements/1.1/"/>
    <ds:schemaRef ds:uri="http://schemas.microsoft.com/office/2006/metadata/properties"/>
    <ds:schemaRef ds:uri="ae1def31-3ee8-4ff9-b911-8e64c5702423"/>
    <ds:schemaRef ds:uri="http://www.w3.org/XML/1998/namespace"/>
    <ds:schemaRef ds:uri="http://purl.org/dc/terms/"/>
  </ds:schemaRefs>
</ds:datastoreItem>
</file>

<file path=customXml/itemProps3.xml><?xml version="1.0" encoding="utf-8"?>
<ds:datastoreItem xmlns:ds="http://schemas.openxmlformats.org/officeDocument/2006/customXml" ds:itemID="{413F7030-F75E-4AA2-997C-93EB50F1C1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1def31-3ee8-4ff9-b911-8e64c5702423"/>
    <ds:schemaRef ds:uri="21130a6c-2326-45bd-953c-df47350dcd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cae8101-c92d-480c-bc43-c6761ccccc5a}" enabled="0" method="" siteId="{dcae8101-c92d-480c-bc43-c6761ccccc5a}" removed="1"/>
</clbl:labelList>
</file>

<file path=docProps/app.xml><?xml version="1.0" encoding="utf-8"?>
<Properties xmlns="http://schemas.openxmlformats.org/officeDocument/2006/extended-properties" xmlns:vt="http://schemas.openxmlformats.org/officeDocument/2006/docPropsVTypes">
  <Template/>
  <TotalTime>23256</TotalTime>
  <Words>1168</Words>
  <Application>Microsoft Office PowerPoint</Application>
  <PresentationFormat>Widescreen</PresentationFormat>
  <Paragraphs>123</Paragraphs>
  <Slides>14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General KanCare PPT template 08-2018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KDHE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Division of Public Health PowerPoint Template 2023</dc:title>
  <dc:creator>Philip Harris [KDHE];Kynedee Hodges [KDHE]</dc:creator>
  <cp:lastModifiedBy>Mayra Trujillo [KDHE]</cp:lastModifiedBy>
  <cp:revision>444</cp:revision>
  <cp:lastPrinted>2018-08-08T16:47:23Z</cp:lastPrinted>
  <dcterms:created xsi:type="dcterms:W3CDTF">2011-05-02T20:27:07Z</dcterms:created>
  <dcterms:modified xsi:type="dcterms:W3CDTF">2026-03-17T20:59:58Z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0x010100897A721296BD1B4A927983E64A20BFDC</vt:lpwstr>
  </property>
</Properties>
</file>